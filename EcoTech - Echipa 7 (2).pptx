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Gotham Bold" charset="1" panose="00000000000000000000"/>
      <p:regular r:id="rId20"/>
    </p:embeddedFont>
    <p:embeddedFont>
      <p:font typeface="Etna Sans Serif" charset="1" panose="02000600000000000000"/>
      <p:regular r:id="rId21"/>
    </p:embeddedFont>
    <p:embeddedFont>
      <p:font typeface="Gotham" charset="1" panose="00000000000000000000"/>
      <p:regular r:id="rId22"/>
    </p:embeddedFont>
    <p:embeddedFont>
      <p:font typeface="Gotham Italics" charset="1" panose="00000000000000000000"/>
      <p:regular r:id="rId23"/>
    </p:embeddedFont>
    <p:embeddedFont>
      <p:font typeface="Gotham Bold Italics" charset="1" panose="02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jpeg" Type="http://schemas.openxmlformats.org/officeDocument/2006/relationships/image"/><Relationship Id="rId7" Target="../media/image2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2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.png" Type="http://schemas.openxmlformats.org/officeDocument/2006/relationships/image"/><Relationship Id="rId4" Target="../media/image2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.pn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.png" Type="http://schemas.openxmlformats.org/officeDocument/2006/relationships/image"/><Relationship Id="rId4" Target="../media/image21.jpeg" Type="http://schemas.openxmlformats.org/officeDocument/2006/relationships/image"/><Relationship Id="rId5" Target="../media/image2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30.png" Type="http://schemas.openxmlformats.org/officeDocument/2006/relationships/image"/><Relationship Id="rId14" Target="../media/image31.svg" Type="http://schemas.openxmlformats.org/officeDocument/2006/relationships/image"/><Relationship Id="rId15" Target="../media/image32.png" Type="http://schemas.openxmlformats.org/officeDocument/2006/relationships/image"/><Relationship Id="rId16" Target="../media/image33.svg" Type="http://schemas.openxmlformats.org/officeDocument/2006/relationships/image"/><Relationship Id="rId17" Target="../media/image34.png" Type="http://schemas.openxmlformats.org/officeDocument/2006/relationships/image"/><Relationship Id="rId18" Target="../media/image35.svg" Type="http://schemas.openxmlformats.org/officeDocument/2006/relationships/image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23.jpe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6.jpeg" Type="http://schemas.openxmlformats.org/officeDocument/2006/relationships/image"/><Relationship Id="rId5" Target="../media/image37.jpeg" Type="http://schemas.openxmlformats.org/officeDocument/2006/relationships/image"/><Relationship Id="rId6" Target="../media/image38.jpeg" Type="http://schemas.openxmlformats.org/officeDocument/2006/relationships/image"/><Relationship Id="rId7" Target="../media/image39.jpeg" Type="http://schemas.openxmlformats.org/officeDocument/2006/relationships/image"/><Relationship Id="rId8" Target="../media/image4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.png" Type="http://schemas.openxmlformats.org/officeDocument/2006/relationships/image"/><Relationship Id="rId4" Target="../media/image4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46.png" Type="http://schemas.openxmlformats.org/officeDocument/2006/relationships/image"/><Relationship Id="rId13" Target="../media/image47.svg" Type="http://schemas.openxmlformats.org/officeDocument/2006/relationships/image"/><Relationship Id="rId14" Target="../media/image48.png" Type="http://schemas.openxmlformats.org/officeDocument/2006/relationships/image"/><Relationship Id="rId15" Target="../media/image49.svg" Type="http://schemas.openxmlformats.org/officeDocument/2006/relationships/image"/><Relationship Id="rId16" Target="../media/image50.png" Type="http://schemas.openxmlformats.org/officeDocument/2006/relationships/image"/><Relationship Id="rId17" Target="../media/image51.svg" Type="http://schemas.openxmlformats.org/officeDocument/2006/relationships/image"/><Relationship Id="rId18" Target="../media/image52.png" Type="http://schemas.openxmlformats.org/officeDocument/2006/relationships/image"/><Relationship Id="rId19" Target="../media/image53.svg" Type="http://schemas.openxmlformats.org/officeDocument/2006/relationships/image"/><Relationship Id="rId2" Target="../media/image6.jpeg" Type="http://schemas.openxmlformats.org/officeDocument/2006/relationships/image"/><Relationship Id="rId20" Target="../media/image54.png" Type="http://schemas.openxmlformats.org/officeDocument/2006/relationships/image"/><Relationship Id="rId21" Target="../media/image55.svg" Type="http://schemas.openxmlformats.org/officeDocument/2006/relationships/image"/><Relationship Id="rId22" Target="../media/image15.png" Type="http://schemas.openxmlformats.org/officeDocument/2006/relationships/image"/><Relationship Id="rId23" Target="../media/image16.sv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58.png" Type="http://schemas.openxmlformats.org/officeDocument/2006/relationships/image"/><Relationship Id="rId15" Target="../media/image59.svg" Type="http://schemas.openxmlformats.org/officeDocument/2006/relationships/image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7300" y="8752626"/>
            <a:ext cx="12708972" cy="5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53"/>
              </a:lnSpc>
              <a:spcBef>
                <a:spcPct val="0"/>
              </a:spcBef>
            </a:pPr>
            <a:r>
              <a:rPr lang="en-US" b="true" sz="2966">
                <a:solidFill>
                  <a:srgbClr val="009719"/>
                </a:solidFill>
                <a:latin typeface="Gotham Bold"/>
                <a:ea typeface="Gotham Bold"/>
                <a:cs typeface="Gotham Bold"/>
                <a:sym typeface="Gotham Bold"/>
              </a:rPr>
              <a:t>   Elaborat de Mogîldea Maxim, Borș Alexadru, Glutnic Serafim  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1312562" cy="593548"/>
          </a:xfrm>
          <a:custGeom>
            <a:avLst/>
            <a:gdLst/>
            <a:ahLst/>
            <a:cxnLst/>
            <a:rect r="r" b="b" t="t" l="l"/>
            <a:pathLst>
              <a:path h="593548" w="1312562">
                <a:moveTo>
                  <a:pt x="0" y="0"/>
                </a:moveTo>
                <a:lnTo>
                  <a:pt x="1312562" y="0"/>
                </a:lnTo>
                <a:lnTo>
                  <a:pt x="1312562" y="593548"/>
                </a:lnTo>
                <a:lnTo>
                  <a:pt x="0" y="593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56723" y="2766307"/>
            <a:ext cx="12174554" cy="3820937"/>
          </a:xfrm>
          <a:custGeom>
            <a:avLst/>
            <a:gdLst/>
            <a:ahLst/>
            <a:cxnLst/>
            <a:rect r="r" b="b" t="t" l="l"/>
            <a:pathLst>
              <a:path h="3820937" w="12174554">
                <a:moveTo>
                  <a:pt x="0" y="0"/>
                </a:moveTo>
                <a:lnTo>
                  <a:pt x="12174554" y="0"/>
                </a:lnTo>
                <a:lnTo>
                  <a:pt x="12174554" y="3820936"/>
                </a:lnTo>
                <a:lnTo>
                  <a:pt x="0" y="3820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36152" y="1068233"/>
            <a:ext cx="4492906" cy="5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3"/>
              </a:lnSpc>
              <a:spcBef>
                <a:spcPct val="0"/>
              </a:spcBef>
            </a:pPr>
            <a:r>
              <a:rPr lang="en-US" b="true" sz="296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ARéc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700" y="-422039"/>
            <a:ext cx="19531776" cy="11411100"/>
          </a:xfrm>
          <a:custGeom>
            <a:avLst/>
            <a:gdLst/>
            <a:ahLst/>
            <a:cxnLst/>
            <a:rect r="r" b="b" t="t" l="l"/>
            <a:pathLst>
              <a:path h="11411100" w="19531776">
                <a:moveTo>
                  <a:pt x="0" y="0"/>
                </a:moveTo>
                <a:lnTo>
                  <a:pt x="19531776" y="0"/>
                </a:lnTo>
                <a:lnTo>
                  <a:pt x="19531776" y="11411100"/>
                </a:lnTo>
                <a:lnTo>
                  <a:pt x="0" y="11411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532" r="0" b="-550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D9B44">
                <a:alpha val="6666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363235"/>
            <a:ext cx="9368433" cy="144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96"/>
              </a:lnSpc>
            </a:pPr>
            <a:r>
              <a:rPr lang="en-US" sz="12258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Introducere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90956" y="3327001"/>
            <a:ext cx="10545066" cy="6492240"/>
            <a:chOff x="0" y="0"/>
            <a:chExt cx="14060088" cy="86563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40026" y="806900"/>
              <a:ext cx="13016747" cy="7321920"/>
            </a:xfrm>
            <a:custGeom>
              <a:avLst/>
              <a:gdLst/>
              <a:ahLst/>
              <a:cxnLst/>
              <a:rect r="r" b="b" t="t" l="l"/>
              <a:pathLst>
                <a:path h="7321920" w="13016747">
                  <a:moveTo>
                    <a:pt x="0" y="0"/>
                  </a:moveTo>
                  <a:lnTo>
                    <a:pt x="13016747" y="0"/>
                  </a:lnTo>
                  <a:lnTo>
                    <a:pt x="13016747" y="7321920"/>
                  </a:lnTo>
                  <a:lnTo>
                    <a:pt x="0" y="732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AutoShape 9" id="9"/>
            <p:cNvSpPr/>
            <p:nvPr/>
          </p:nvSpPr>
          <p:spPr>
            <a:xfrm>
              <a:off x="7391831" y="0"/>
              <a:ext cx="0" cy="865632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oval" len="lg" w="lg"/>
              <a:tailEnd type="oval" len="lg" w="lg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7290231" y="4712973"/>
              <a:ext cx="6769858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oval" len="lg" w="lg"/>
              <a:tailEnd type="oval" len="lg" w="lg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0" y="4206347"/>
              <a:ext cx="7493431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oval" len="lg" w="lg"/>
              <a:tailEnd type="oval" len="lg" w="lg"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4583112"/>
            <a:ext cx="6462256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    </a:t>
            </a:r>
            <a:r>
              <a:rPr lang="en-US" sz="2499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Agricultura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stă la baza civilizației, fiind una dintre cele mai mari ramuri a economiei mondiale.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515971"/>
            <a:ext cx="6462256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    Ca și orice altă activitate umană, ea are un </a:t>
            </a:r>
            <a:r>
              <a:rPr lang="en-US" sz="2499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impact negativ asupra mediului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, iar noi suntem într-o permanentă căutare a metodelor de deminuare al acestui impact.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8700" y="1028700"/>
            <a:ext cx="1312562" cy="593548"/>
          </a:xfrm>
          <a:custGeom>
            <a:avLst/>
            <a:gdLst/>
            <a:ahLst/>
            <a:cxnLst/>
            <a:rect r="r" b="b" t="t" l="l"/>
            <a:pathLst>
              <a:path h="593548" w="1312562">
                <a:moveTo>
                  <a:pt x="0" y="0"/>
                </a:moveTo>
                <a:lnTo>
                  <a:pt x="1312562" y="0"/>
                </a:lnTo>
                <a:lnTo>
                  <a:pt x="1312562" y="593548"/>
                </a:lnTo>
                <a:lnTo>
                  <a:pt x="0" y="5935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36152" y="1068233"/>
            <a:ext cx="4492906" cy="5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3"/>
              </a:lnSpc>
              <a:spcBef>
                <a:spcPct val="0"/>
              </a:spcBef>
            </a:pPr>
            <a:r>
              <a:rPr lang="en-US" b="true" sz="296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ARéc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223" r="0" b="-1010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D9B44">
                <a:alpha val="7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830175" y="3946035"/>
            <a:ext cx="5039041" cy="5312265"/>
            <a:chOff x="0" y="0"/>
            <a:chExt cx="1679379" cy="17704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9379" cy="1770437"/>
            </a:xfrm>
            <a:custGeom>
              <a:avLst/>
              <a:gdLst/>
              <a:ahLst/>
              <a:cxnLst/>
              <a:rect r="r" b="b" t="t" l="l"/>
              <a:pathLst>
                <a:path h="1770437" w="1679379">
                  <a:moveTo>
                    <a:pt x="64528" y="0"/>
                  </a:moveTo>
                  <a:lnTo>
                    <a:pt x="1614851" y="0"/>
                  </a:lnTo>
                  <a:cubicBezTo>
                    <a:pt x="1650489" y="0"/>
                    <a:pt x="1679379" y="28890"/>
                    <a:pt x="1679379" y="64528"/>
                  </a:cubicBezTo>
                  <a:lnTo>
                    <a:pt x="1679379" y="1705909"/>
                  </a:lnTo>
                  <a:cubicBezTo>
                    <a:pt x="1679379" y="1723023"/>
                    <a:pt x="1672581" y="1739436"/>
                    <a:pt x="1660479" y="1751537"/>
                  </a:cubicBezTo>
                  <a:cubicBezTo>
                    <a:pt x="1648378" y="1763639"/>
                    <a:pt x="1631965" y="1770437"/>
                    <a:pt x="1614851" y="1770437"/>
                  </a:cubicBezTo>
                  <a:lnTo>
                    <a:pt x="64528" y="1770437"/>
                  </a:lnTo>
                  <a:cubicBezTo>
                    <a:pt x="47414" y="1770437"/>
                    <a:pt x="31001" y="1763639"/>
                    <a:pt x="18900" y="1751537"/>
                  </a:cubicBezTo>
                  <a:cubicBezTo>
                    <a:pt x="6798" y="1739436"/>
                    <a:pt x="0" y="1723023"/>
                    <a:pt x="0" y="1705909"/>
                  </a:cubicBezTo>
                  <a:lnTo>
                    <a:pt x="0" y="64528"/>
                  </a:lnTo>
                  <a:cubicBezTo>
                    <a:pt x="0" y="47414"/>
                    <a:pt x="6798" y="31001"/>
                    <a:pt x="18900" y="18900"/>
                  </a:cubicBezTo>
                  <a:cubicBezTo>
                    <a:pt x="31001" y="6798"/>
                    <a:pt x="47414" y="0"/>
                    <a:pt x="64528" y="0"/>
                  </a:cubicBezTo>
                  <a:close/>
                </a:path>
              </a:pathLst>
            </a:custGeom>
            <a:solidFill>
              <a:srgbClr val="FDFDFD">
                <a:alpha val="6274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79379" cy="1808537"/>
            </a:xfrm>
            <a:prstGeom prst="rect">
              <a:avLst/>
            </a:prstGeom>
          </p:spPr>
          <p:txBody>
            <a:bodyPr anchor="ctr" rtlCol="false" tIns="45927" lIns="45927" bIns="45927" rIns="45927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027382" y="7483375"/>
            <a:ext cx="4644628" cy="128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1114" indent="-265557" lvl="1">
              <a:lnSpc>
                <a:spcPts val="3444"/>
              </a:lnSpc>
              <a:buFont typeface="Arial"/>
              <a:buChar char="•"/>
            </a:pPr>
            <a:r>
              <a:rPr lang="en-US" sz="2460">
                <a:solidFill>
                  <a:srgbClr val="0E5434"/>
                </a:solidFill>
                <a:latin typeface="Gotham"/>
                <a:ea typeface="Gotham"/>
                <a:cs typeface="Gotham"/>
                <a:sym typeface="Gotham"/>
              </a:rPr>
              <a:t>3 lucrări la o trecere</a:t>
            </a:r>
          </a:p>
          <a:p>
            <a:pPr algn="just" marL="531114" indent="-265557" lvl="1">
              <a:lnSpc>
                <a:spcPts val="3444"/>
              </a:lnSpc>
              <a:buFont typeface="Arial"/>
              <a:buChar char="•"/>
            </a:pPr>
            <a:r>
              <a:rPr lang="en-US" sz="2460">
                <a:solidFill>
                  <a:srgbClr val="0E5434"/>
                </a:solidFill>
                <a:latin typeface="Gotham"/>
                <a:ea typeface="Gotham"/>
                <a:cs typeface="Gotham"/>
                <a:sym typeface="Gotham"/>
              </a:rPr>
              <a:t>1 trecere pentru 3 lucrări</a:t>
            </a:r>
          </a:p>
          <a:p>
            <a:pPr algn="just" marL="531114" indent="-265557" lvl="1">
              <a:lnSpc>
                <a:spcPts val="3444"/>
              </a:lnSpc>
              <a:buFont typeface="Arial"/>
              <a:buChar char="•"/>
            </a:pPr>
            <a:r>
              <a:rPr lang="en-US" sz="2460">
                <a:solidFill>
                  <a:srgbClr val="0E5434"/>
                </a:solidFill>
                <a:latin typeface="Gotham"/>
                <a:ea typeface="Gotham"/>
                <a:cs typeface="Gotham"/>
                <a:sym typeface="Gotham"/>
              </a:rPr>
              <a:t>~2 moto-ore pe hectar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546617" y="3946035"/>
            <a:ext cx="5041757" cy="5312265"/>
            <a:chOff x="0" y="0"/>
            <a:chExt cx="6722343" cy="708302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722343" cy="7083020"/>
              <a:chOff x="0" y="0"/>
              <a:chExt cx="1679329" cy="176941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79329" cy="1769415"/>
              </a:xfrm>
              <a:custGeom>
                <a:avLst/>
                <a:gdLst/>
                <a:ahLst/>
                <a:cxnLst/>
                <a:rect r="r" b="b" t="t" l="l"/>
                <a:pathLst>
                  <a:path h="1769415" w="1679329">
                    <a:moveTo>
                      <a:pt x="1679329" y="64494"/>
                    </a:moveTo>
                    <a:lnTo>
                      <a:pt x="1679329" y="1704921"/>
                    </a:lnTo>
                    <a:cubicBezTo>
                      <a:pt x="1679329" y="1740540"/>
                      <a:pt x="1650455" y="1769415"/>
                      <a:pt x="1614836" y="1769415"/>
                    </a:cubicBezTo>
                    <a:lnTo>
                      <a:pt x="64494" y="1769415"/>
                    </a:lnTo>
                    <a:cubicBezTo>
                      <a:pt x="28875" y="1769415"/>
                      <a:pt x="0" y="1740540"/>
                      <a:pt x="0" y="1704921"/>
                    </a:cubicBezTo>
                    <a:lnTo>
                      <a:pt x="0" y="64494"/>
                    </a:lnTo>
                    <a:cubicBezTo>
                      <a:pt x="0" y="28875"/>
                      <a:pt x="28875" y="0"/>
                      <a:pt x="64494" y="0"/>
                    </a:cubicBezTo>
                    <a:lnTo>
                      <a:pt x="1614836" y="0"/>
                    </a:lnTo>
                    <a:cubicBezTo>
                      <a:pt x="1650455" y="0"/>
                      <a:pt x="1679329" y="28875"/>
                      <a:pt x="1679329" y="64494"/>
                    </a:cubicBezTo>
                    <a:close/>
                  </a:path>
                </a:pathLst>
              </a:custGeom>
              <a:solidFill>
                <a:srgbClr val="FDFDFD">
                  <a:alpha val="62745"/>
                </a:srgbClr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679329" cy="1807515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263084" y="291066"/>
              <a:ext cx="6196174" cy="3988787"/>
            </a:xfrm>
            <a:custGeom>
              <a:avLst/>
              <a:gdLst/>
              <a:ahLst/>
              <a:cxnLst/>
              <a:rect r="r" b="b" t="t" l="l"/>
              <a:pathLst>
                <a:path h="3988787" w="6196174">
                  <a:moveTo>
                    <a:pt x="0" y="0"/>
                  </a:moveTo>
                  <a:lnTo>
                    <a:pt x="6196175" y="0"/>
                  </a:lnTo>
                  <a:lnTo>
                    <a:pt x="6196175" y="3988787"/>
                  </a:lnTo>
                  <a:lnTo>
                    <a:pt x="0" y="3988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2286" r="0" b="-35419"/>
              </a:stretch>
            </a:blip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 rot="0">
              <a:off x="166502" y="4449687"/>
              <a:ext cx="6389339" cy="2259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0270" indent="-265135" lvl="1">
                <a:lnSpc>
                  <a:spcPts val="3438"/>
                </a:lnSpc>
                <a:buFont typeface="Arial"/>
                <a:buChar char="•"/>
              </a:pPr>
              <a:r>
                <a:rPr lang="en-US" sz="24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1 lucrare la o trecere</a:t>
              </a:r>
            </a:p>
            <a:p>
              <a:pPr algn="just" marL="530270" indent="-265135" lvl="1">
                <a:lnSpc>
                  <a:spcPts val="3438"/>
                </a:lnSpc>
                <a:buFont typeface="Arial"/>
                <a:buChar char="•"/>
              </a:pPr>
              <a:r>
                <a:rPr lang="en-US" sz="24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r>
                <a:rPr lang="en-US" sz="24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 treceri pentru 3 lucrări</a:t>
              </a:r>
            </a:p>
            <a:p>
              <a:pPr algn="l" marL="530270" indent="-265135" lvl="1">
                <a:lnSpc>
                  <a:spcPts val="3438"/>
                </a:lnSpc>
                <a:buFont typeface="Arial"/>
                <a:buChar char="•"/>
              </a:pPr>
              <a:r>
                <a:rPr lang="en-US" sz="24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r>
                <a:rPr lang="en-US" sz="24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 moto-ore pe hectar pentru un tractor etalon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630839" y="3443070"/>
            <a:ext cx="801473" cy="1005930"/>
          </a:xfrm>
          <a:custGeom>
            <a:avLst/>
            <a:gdLst/>
            <a:ahLst/>
            <a:cxnLst/>
            <a:rect r="r" b="b" t="t" l="l"/>
            <a:pathLst>
              <a:path h="1005930" w="801473">
                <a:moveTo>
                  <a:pt x="0" y="0"/>
                </a:moveTo>
                <a:lnTo>
                  <a:pt x="801472" y="0"/>
                </a:lnTo>
                <a:lnTo>
                  <a:pt x="801472" y="1005930"/>
                </a:lnTo>
                <a:lnTo>
                  <a:pt x="0" y="1005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027382" y="4164217"/>
            <a:ext cx="4644628" cy="2989979"/>
          </a:xfrm>
          <a:custGeom>
            <a:avLst/>
            <a:gdLst/>
            <a:ahLst/>
            <a:cxnLst/>
            <a:rect r="r" b="b" t="t" l="l"/>
            <a:pathLst>
              <a:path h="2989979" w="4644628">
                <a:moveTo>
                  <a:pt x="0" y="0"/>
                </a:moveTo>
                <a:lnTo>
                  <a:pt x="4644627" y="0"/>
                </a:lnTo>
                <a:lnTo>
                  <a:pt x="4644627" y="2989979"/>
                </a:lnTo>
                <a:lnTo>
                  <a:pt x="0" y="29899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1028700"/>
            <a:ext cx="1312562" cy="593548"/>
          </a:xfrm>
          <a:custGeom>
            <a:avLst/>
            <a:gdLst/>
            <a:ahLst/>
            <a:cxnLst/>
            <a:rect r="r" b="b" t="t" l="l"/>
            <a:pathLst>
              <a:path h="593548" w="1312562">
                <a:moveTo>
                  <a:pt x="0" y="0"/>
                </a:moveTo>
                <a:lnTo>
                  <a:pt x="1312562" y="0"/>
                </a:lnTo>
                <a:lnTo>
                  <a:pt x="1312562" y="593548"/>
                </a:lnTo>
                <a:lnTo>
                  <a:pt x="0" y="593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874558" y="3397219"/>
            <a:ext cx="1203033" cy="577065"/>
          </a:xfrm>
          <a:custGeom>
            <a:avLst/>
            <a:gdLst/>
            <a:ahLst/>
            <a:cxnLst/>
            <a:rect r="r" b="b" t="t" l="l"/>
            <a:pathLst>
              <a:path h="577065" w="1203033">
                <a:moveTo>
                  <a:pt x="0" y="0"/>
                </a:moveTo>
                <a:lnTo>
                  <a:pt x="1203034" y="0"/>
                </a:lnTo>
                <a:lnTo>
                  <a:pt x="1203034" y="577065"/>
                </a:lnTo>
                <a:lnTo>
                  <a:pt x="0" y="5770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3316638" y="8654035"/>
            <a:ext cx="852933" cy="594740"/>
            <a:chOff x="0" y="0"/>
            <a:chExt cx="1137244" cy="7929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018" cy="792986"/>
            </a:xfrm>
            <a:custGeom>
              <a:avLst/>
              <a:gdLst/>
              <a:ahLst/>
              <a:cxnLst/>
              <a:rect r="r" b="b" t="t" l="l"/>
              <a:pathLst>
                <a:path h="792986" w="812018">
                  <a:moveTo>
                    <a:pt x="0" y="0"/>
                  </a:moveTo>
                  <a:lnTo>
                    <a:pt x="812018" y="0"/>
                  </a:lnTo>
                  <a:lnTo>
                    <a:pt x="812018" y="792986"/>
                  </a:lnTo>
                  <a:lnTo>
                    <a:pt x="0" y="79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89711" y="258286"/>
              <a:ext cx="547533" cy="534700"/>
            </a:xfrm>
            <a:custGeom>
              <a:avLst/>
              <a:gdLst/>
              <a:ahLst/>
              <a:cxnLst/>
              <a:rect r="r" b="b" t="t" l="l"/>
              <a:pathLst>
                <a:path h="534700" w="547533">
                  <a:moveTo>
                    <a:pt x="0" y="0"/>
                  </a:moveTo>
                  <a:lnTo>
                    <a:pt x="547533" y="0"/>
                  </a:lnTo>
                  <a:lnTo>
                    <a:pt x="547533" y="534700"/>
                  </a:lnTo>
                  <a:lnTo>
                    <a:pt x="0" y="53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28700" y="2510717"/>
            <a:ext cx="11201924" cy="688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7"/>
              </a:lnSpc>
            </a:pPr>
            <a:r>
              <a:rPr lang="en-US" sz="605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Optimizarea Lucrărilor Agricole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3427645"/>
            <a:ext cx="6451950" cy="37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    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Lucrările desfășurate în activitatea agricolă pot fi </a:t>
            </a:r>
            <a:r>
              <a:rPr lang="en-US" sz="24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optimizate 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prin multe metode: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de exemplu – utilizarea tehnologiei </a:t>
            </a:r>
            <a:r>
              <a:rPr lang="en-US" b="true" sz="240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mini-till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, care compactează tot spectrul de operațiuni efectuate la o anumită etapă a perioadei de vegetație într-o singură trecere a tractorului pe teritoriul plantației.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36152" y="1068233"/>
            <a:ext cx="4492906" cy="5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3"/>
              </a:lnSpc>
              <a:spcBef>
                <a:spcPct val="0"/>
              </a:spcBef>
            </a:pPr>
            <a:r>
              <a:rPr lang="en-US" b="true" sz="296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ARéc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6080" y="7533937"/>
            <a:ext cx="6213825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    În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să omptimizarea are o </a:t>
            </a:r>
            <a:r>
              <a:rPr lang="en-US" sz="24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limită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, cultivarea unui câ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m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 oricum va necesita o cantitate minimă de combustibil ars, îngrășăminte și pesticide aplicate, precum și apă utilizată.</a:t>
            </a:r>
          </a:p>
        </p:txBody>
      </p:sp>
      <p:grpSp>
        <p:nvGrpSpPr>
          <p:cNvPr name="Group 27" id="27"/>
          <p:cNvGrpSpPr/>
          <p:nvPr/>
        </p:nvGrpSpPr>
        <p:grpSpPr>
          <a:xfrm rot="1902077">
            <a:off x="7551725" y="8637930"/>
            <a:ext cx="677595" cy="607900"/>
            <a:chOff x="0" y="0"/>
            <a:chExt cx="903460" cy="810533"/>
          </a:xfrm>
        </p:grpSpPr>
        <p:sp>
          <p:nvSpPr>
            <p:cNvPr name="Freeform 28" id="28"/>
            <p:cNvSpPr/>
            <p:nvPr/>
          </p:nvSpPr>
          <p:spPr>
            <a:xfrm flipH="false" flipV="false" rot="-1567680">
              <a:off x="96445" y="297490"/>
              <a:ext cx="221207" cy="489338"/>
            </a:xfrm>
            <a:custGeom>
              <a:avLst/>
              <a:gdLst/>
              <a:ahLst/>
              <a:cxnLst/>
              <a:rect r="r" b="b" t="t" l="l"/>
              <a:pathLst>
                <a:path h="489338" w="221207">
                  <a:moveTo>
                    <a:pt x="0" y="0"/>
                  </a:moveTo>
                  <a:lnTo>
                    <a:pt x="221207" y="0"/>
                  </a:lnTo>
                  <a:lnTo>
                    <a:pt x="221207" y="489338"/>
                  </a:lnTo>
                  <a:lnTo>
                    <a:pt x="0" y="489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79524" y="0"/>
              <a:ext cx="344476" cy="762022"/>
            </a:xfrm>
            <a:custGeom>
              <a:avLst/>
              <a:gdLst/>
              <a:ahLst/>
              <a:cxnLst/>
              <a:rect r="r" b="b" t="t" l="l"/>
              <a:pathLst>
                <a:path h="762022" w="344476">
                  <a:moveTo>
                    <a:pt x="0" y="0"/>
                  </a:moveTo>
                  <a:lnTo>
                    <a:pt x="344476" y="0"/>
                  </a:lnTo>
                  <a:lnTo>
                    <a:pt x="344476" y="762022"/>
                  </a:lnTo>
                  <a:lnTo>
                    <a:pt x="0" y="7620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1587832">
              <a:off x="584809" y="297544"/>
              <a:ext cx="221207" cy="489338"/>
            </a:xfrm>
            <a:custGeom>
              <a:avLst/>
              <a:gdLst/>
              <a:ahLst/>
              <a:cxnLst/>
              <a:rect r="r" b="b" t="t" l="l"/>
              <a:pathLst>
                <a:path h="489338" w="221207">
                  <a:moveTo>
                    <a:pt x="0" y="0"/>
                  </a:moveTo>
                  <a:lnTo>
                    <a:pt x="221208" y="0"/>
                  </a:lnTo>
                  <a:lnTo>
                    <a:pt x="221208" y="489338"/>
                  </a:lnTo>
                  <a:lnTo>
                    <a:pt x="0" y="489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1866011" y="8846199"/>
            <a:ext cx="412237" cy="402576"/>
          </a:xfrm>
          <a:custGeom>
            <a:avLst/>
            <a:gdLst/>
            <a:ahLst/>
            <a:cxnLst/>
            <a:rect r="r" b="b" t="t" l="l"/>
            <a:pathLst>
              <a:path h="402576" w="412237">
                <a:moveTo>
                  <a:pt x="0" y="0"/>
                </a:moveTo>
                <a:lnTo>
                  <a:pt x="412238" y="0"/>
                </a:lnTo>
                <a:lnTo>
                  <a:pt x="412238" y="402576"/>
                </a:lnTo>
                <a:lnTo>
                  <a:pt x="0" y="4025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1450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D9B44">
                <a:alpha val="8196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1312562" cy="593548"/>
          </a:xfrm>
          <a:custGeom>
            <a:avLst/>
            <a:gdLst/>
            <a:ahLst/>
            <a:cxnLst/>
            <a:rect r="r" b="b" t="t" l="l"/>
            <a:pathLst>
              <a:path h="593548" w="1312562">
                <a:moveTo>
                  <a:pt x="0" y="0"/>
                </a:moveTo>
                <a:lnTo>
                  <a:pt x="1312562" y="0"/>
                </a:lnTo>
                <a:lnTo>
                  <a:pt x="1312562" y="593548"/>
                </a:lnTo>
                <a:lnTo>
                  <a:pt x="0" y="593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36152" y="1068233"/>
            <a:ext cx="4492906" cy="5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3"/>
              </a:lnSpc>
              <a:spcBef>
                <a:spcPct val="0"/>
              </a:spcBef>
            </a:pPr>
            <a:r>
              <a:rPr lang="en-US" b="true" sz="296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ARéc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27719" y="8144760"/>
            <a:ext cx="14032561" cy="174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ceastă diagramă n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 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prezintă doar emisiile de gaze cu efect de seră, însă </a:t>
            </a:r>
            <a:r>
              <a:rPr lang="en-US" b="true" sz="24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agricultura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are un spectru larg de </a:t>
            </a:r>
            <a:r>
              <a:rPr lang="en-US" b="true" sz="24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efecte negative 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asupra mediului, care sunt inevitabile, reieșind din necesitatea în produse alimentare și materie primă, pentru a asigura funcționarea societății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49766" y="-657880"/>
            <a:ext cx="15710572" cy="97805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365" y="0"/>
            <a:ext cx="18328731" cy="10287000"/>
          </a:xfrm>
          <a:custGeom>
            <a:avLst/>
            <a:gdLst/>
            <a:ahLst/>
            <a:cxnLst/>
            <a:rect r="r" b="b" t="t" l="l"/>
            <a:pathLst>
              <a:path h="10287000" w="18328731">
                <a:moveTo>
                  <a:pt x="0" y="0"/>
                </a:moveTo>
                <a:lnTo>
                  <a:pt x="18328730" y="0"/>
                </a:lnTo>
                <a:lnTo>
                  <a:pt x="183287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D9B44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1312562" cy="593548"/>
          </a:xfrm>
          <a:custGeom>
            <a:avLst/>
            <a:gdLst/>
            <a:ahLst/>
            <a:cxnLst/>
            <a:rect r="r" b="b" t="t" l="l"/>
            <a:pathLst>
              <a:path h="593548" w="1312562">
                <a:moveTo>
                  <a:pt x="0" y="0"/>
                </a:moveTo>
                <a:lnTo>
                  <a:pt x="1312562" y="0"/>
                </a:lnTo>
                <a:lnTo>
                  <a:pt x="1312562" y="593548"/>
                </a:lnTo>
                <a:lnTo>
                  <a:pt x="0" y="593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34491" y="1854307"/>
            <a:ext cx="13819018" cy="5717619"/>
          </a:xfrm>
          <a:custGeom>
            <a:avLst/>
            <a:gdLst/>
            <a:ahLst/>
            <a:cxnLst/>
            <a:rect r="r" b="b" t="t" l="l"/>
            <a:pathLst>
              <a:path h="5717619" w="13819018">
                <a:moveTo>
                  <a:pt x="0" y="0"/>
                </a:moveTo>
                <a:lnTo>
                  <a:pt x="13819018" y="0"/>
                </a:lnTo>
                <a:lnTo>
                  <a:pt x="13819018" y="5717619"/>
                </a:lnTo>
                <a:lnTo>
                  <a:pt x="0" y="57176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36152" y="1068233"/>
            <a:ext cx="4492906" cy="5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3"/>
              </a:lnSpc>
              <a:spcBef>
                <a:spcPct val="0"/>
              </a:spcBef>
            </a:pPr>
            <a:r>
              <a:rPr lang="en-US" b="true" sz="296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ARéc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27719" y="7962451"/>
            <a:ext cx="14032561" cy="174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acă ajungem la un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mom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ent, în care nu mai suntem capabili să micșorăm </a:t>
            </a:r>
            <a:r>
              <a:rPr lang="en-US" b="true" sz="24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impactul negativ asupra mediului 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care reiese din cultivarea unei suprafețe de pământ, atunci trebuie să</a:t>
            </a:r>
            <a:r>
              <a:rPr lang="en-US" b="true" sz="24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ridicăm volumul producției 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pe unitate de teritoriu, pentru a reduce suprafața cultivată, sau a nu fi impuși să o extindem, când vom avea nevoie.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365" y="0"/>
            <a:ext cx="18328731" cy="10287000"/>
          </a:xfrm>
          <a:custGeom>
            <a:avLst/>
            <a:gdLst/>
            <a:ahLst/>
            <a:cxnLst/>
            <a:rect r="r" b="b" t="t" l="l"/>
            <a:pathLst>
              <a:path h="10287000" w="18328731">
                <a:moveTo>
                  <a:pt x="0" y="0"/>
                </a:moveTo>
                <a:lnTo>
                  <a:pt x="18328730" y="0"/>
                </a:lnTo>
                <a:lnTo>
                  <a:pt x="183287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D9B44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1312562" cy="593548"/>
          </a:xfrm>
          <a:custGeom>
            <a:avLst/>
            <a:gdLst/>
            <a:ahLst/>
            <a:cxnLst/>
            <a:rect r="r" b="b" t="t" l="l"/>
            <a:pathLst>
              <a:path h="593548" w="1312562">
                <a:moveTo>
                  <a:pt x="0" y="0"/>
                </a:moveTo>
                <a:lnTo>
                  <a:pt x="1312562" y="0"/>
                </a:lnTo>
                <a:lnTo>
                  <a:pt x="1312562" y="593548"/>
                </a:lnTo>
                <a:lnTo>
                  <a:pt x="0" y="593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34491" y="1854307"/>
            <a:ext cx="13819018" cy="5717619"/>
          </a:xfrm>
          <a:custGeom>
            <a:avLst/>
            <a:gdLst/>
            <a:ahLst/>
            <a:cxnLst/>
            <a:rect r="r" b="b" t="t" l="l"/>
            <a:pathLst>
              <a:path h="5717619" w="13819018">
                <a:moveTo>
                  <a:pt x="0" y="0"/>
                </a:moveTo>
                <a:lnTo>
                  <a:pt x="13819018" y="0"/>
                </a:lnTo>
                <a:lnTo>
                  <a:pt x="13819018" y="5717619"/>
                </a:lnTo>
                <a:lnTo>
                  <a:pt x="0" y="57176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34491" y="1854307"/>
            <a:ext cx="13819018" cy="5717619"/>
          </a:xfrm>
          <a:custGeom>
            <a:avLst/>
            <a:gdLst/>
            <a:ahLst/>
            <a:cxnLst/>
            <a:rect r="r" b="b" t="t" l="l"/>
            <a:pathLst>
              <a:path h="5717619" w="13819018">
                <a:moveTo>
                  <a:pt x="0" y="0"/>
                </a:moveTo>
                <a:lnTo>
                  <a:pt x="13819018" y="0"/>
                </a:lnTo>
                <a:lnTo>
                  <a:pt x="13819018" y="5717619"/>
                </a:lnTo>
                <a:lnTo>
                  <a:pt x="0" y="5717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36152" y="1068233"/>
            <a:ext cx="4492906" cy="5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3"/>
              </a:lnSpc>
              <a:spcBef>
                <a:spcPct val="0"/>
              </a:spcBef>
            </a:pPr>
            <a:r>
              <a:rPr lang="en-US" b="true" sz="296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ARéc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27719" y="7962451"/>
            <a:ext cx="14032561" cy="174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acă ajungem la un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mom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ent, în care nu mai suntem capabili să micșorăm </a:t>
            </a:r>
            <a:r>
              <a:rPr lang="en-US" b="true" sz="24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impactul negativ asupra mediului 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care reiese din cultivarea unei suprafețe de pământ, atunci trebuie să </a:t>
            </a:r>
            <a:r>
              <a:rPr lang="en-US" b="true" sz="24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ridicăm volumul producției 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pe unitate de teritoriu, pentru a reduce suprafața cultivată, sau a nu fi impuși să o extindem, când vom avea nevoie.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365" y="0"/>
            <a:ext cx="18328731" cy="10287000"/>
          </a:xfrm>
          <a:custGeom>
            <a:avLst/>
            <a:gdLst/>
            <a:ahLst/>
            <a:cxnLst/>
            <a:rect r="r" b="b" t="t" l="l"/>
            <a:pathLst>
              <a:path h="10287000" w="18328731">
                <a:moveTo>
                  <a:pt x="0" y="0"/>
                </a:moveTo>
                <a:lnTo>
                  <a:pt x="18328730" y="0"/>
                </a:lnTo>
                <a:lnTo>
                  <a:pt x="183287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D9B44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1312562" cy="593548"/>
          </a:xfrm>
          <a:custGeom>
            <a:avLst/>
            <a:gdLst/>
            <a:ahLst/>
            <a:cxnLst/>
            <a:rect r="r" b="b" t="t" l="l"/>
            <a:pathLst>
              <a:path h="593548" w="1312562">
                <a:moveTo>
                  <a:pt x="0" y="0"/>
                </a:moveTo>
                <a:lnTo>
                  <a:pt x="1312562" y="0"/>
                </a:lnTo>
                <a:lnTo>
                  <a:pt x="1312562" y="593548"/>
                </a:lnTo>
                <a:lnTo>
                  <a:pt x="0" y="593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34491" y="1854307"/>
            <a:ext cx="13819018" cy="5717619"/>
          </a:xfrm>
          <a:custGeom>
            <a:avLst/>
            <a:gdLst/>
            <a:ahLst/>
            <a:cxnLst/>
            <a:rect r="r" b="b" t="t" l="l"/>
            <a:pathLst>
              <a:path h="5717619" w="13819018">
                <a:moveTo>
                  <a:pt x="0" y="0"/>
                </a:moveTo>
                <a:lnTo>
                  <a:pt x="13819018" y="0"/>
                </a:lnTo>
                <a:lnTo>
                  <a:pt x="13819018" y="5717619"/>
                </a:lnTo>
                <a:lnTo>
                  <a:pt x="0" y="57176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34491" y="1854307"/>
            <a:ext cx="13819018" cy="5717619"/>
          </a:xfrm>
          <a:custGeom>
            <a:avLst/>
            <a:gdLst/>
            <a:ahLst/>
            <a:cxnLst/>
            <a:rect r="r" b="b" t="t" l="l"/>
            <a:pathLst>
              <a:path h="5717619" w="13819018">
                <a:moveTo>
                  <a:pt x="0" y="0"/>
                </a:moveTo>
                <a:lnTo>
                  <a:pt x="13819018" y="0"/>
                </a:lnTo>
                <a:lnTo>
                  <a:pt x="13819018" y="5717619"/>
                </a:lnTo>
                <a:lnTo>
                  <a:pt x="0" y="5717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36152" y="1068233"/>
            <a:ext cx="4492906" cy="5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3"/>
              </a:lnSpc>
              <a:spcBef>
                <a:spcPct val="0"/>
              </a:spcBef>
            </a:pPr>
            <a:r>
              <a:rPr lang="en-US" b="true" sz="296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ARéc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27719" y="7962451"/>
            <a:ext cx="14032561" cy="174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acă ajungem la un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mom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ent, în care nu mai suntem capabili să micșorăm </a:t>
            </a:r>
            <a:r>
              <a:rPr lang="en-US" b="true" sz="24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impactul negativ asupra mediului 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care reiese din cultivarea unei suprafețe de pământ, atunci trebuie să </a:t>
            </a:r>
            <a:r>
              <a:rPr lang="en-US" b="true" sz="24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ridicăm volumul producției 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pe unitate de teritoriu, pentru a reduce suprafața cultivată, sau a nu fi impuși să o extindem, când vom avea nevoie.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223" r="0" b="-1010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D9B44">
                <a:alpha val="7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510717"/>
            <a:ext cx="11201924" cy="688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7"/>
              </a:lnSpc>
            </a:pPr>
            <a:r>
              <a:rPr lang="en-US" sz="605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Notele de Bonitare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1312562" cy="593548"/>
          </a:xfrm>
          <a:custGeom>
            <a:avLst/>
            <a:gdLst/>
            <a:ahLst/>
            <a:cxnLst/>
            <a:rect r="r" b="b" t="t" l="l"/>
            <a:pathLst>
              <a:path h="593548" w="1312562">
                <a:moveTo>
                  <a:pt x="0" y="0"/>
                </a:moveTo>
                <a:lnTo>
                  <a:pt x="1312562" y="0"/>
                </a:lnTo>
                <a:lnTo>
                  <a:pt x="1312562" y="593548"/>
                </a:lnTo>
                <a:lnTo>
                  <a:pt x="0" y="593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055656" y="2185461"/>
            <a:ext cx="2893505" cy="4272673"/>
            <a:chOff x="0" y="0"/>
            <a:chExt cx="3858006" cy="569689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3858006" cy="5696897"/>
              <a:chOff x="0" y="0"/>
              <a:chExt cx="1301337" cy="192159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01337" cy="1921592"/>
              </a:xfrm>
              <a:custGeom>
                <a:avLst/>
                <a:gdLst/>
                <a:ahLst/>
                <a:cxnLst/>
                <a:rect r="r" b="b" t="t" l="l"/>
                <a:pathLst>
                  <a:path h="1921592" w="1301337">
                    <a:moveTo>
                      <a:pt x="1301337" y="83227"/>
                    </a:moveTo>
                    <a:lnTo>
                      <a:pt x="1301337" y="1838366"/>
                    </a:lnTo>
                    <a:cubicBezTo>
                      <a:pt x="1301337" y="1884330"/>
                      <a:pt x="1264075" y="1921592"/>
                      <a:pt x="1218111" y="1921592"/>
                    </a:cubicBezTo>
                    <a:lnTo>
                      <a:pt x="83227" y="1921592"/>
                    </a:lnTo>
                    <a:cubicBezTo>
                      <a:pt x="37262" y="1921592"/>
                      <a:pt x="0" y="1884330"/>
                      <a:pt x="0" y="1838366"/>
                    </a:cubicBezTo>
                    <a:lnTo>
                      <a:pt x="0" y="83227"/>
                    </a:lnTo>
                    <a:cubicBezTo>
                      <a:pt x="0" y="37262"/>
                      <a:pt x="37262" y="0"/>
                      <a:pt x="83227" y="0"/>
                    </a:cubicBezTo>
                    <a:lnTo>
                      <a:pt x="1218111" y="0"/>
                    </a:lnTo>
                    <a:cubicBezTo>
                      <a:pt x="1264075" y="0"/>
                      <a:pt x="1301337" y="37262"/>
                      <a:pt x="1301337" y="83227"/>
                    </a:cubicBezTo>
                    <a:close/>
                  </a:path>
                </a:pathLst>
              </a:custGeom>
              <a:solidFill>
                <a:srgbClr val="FDFDFD">
                  <a:alpha val="62745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301337" cy="1959692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349529" y="301482"/>
              <a:ext cx="3159733" cy="3728298"/>
            </a:xfrm>
            <a:custGeom>
              <a:avLst/>
              <a:gdLst/>
              <a:ahLst/>
              <a:cxnLst/>
              <a:rect r="r" b="b" t="t" l="l"/>
              <a:pathLst>
                <a:path h="3728298" w="3159733">
                  <a:moveTo>
                    <a:pt x="0" y="0"/>
                  </a:moveTo>
                  <a:lnTo>
                    <a:pt x="3159733" y="0"/>
                  </a:lnTo>
                  <a:lnTo>
                    <a:pt x="3159733" y="3728298"/>
                  </a:lnTo>
                  <a:lnTo>
                    <a:pt x="0" y="3728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41977" y="4258124"/>
              <a:ext cx="1095335" cy="1095335"/>
            </a:xfrm>
            <a:custGeom>
              <a:avLst/>
              <a:gdLst/>
              <a:ahLst/>
              <a:cxnLst/>
              <a:rect r="r" b="b" t="t" l="l"/>
              <a:pathLst>
                <a:path h="1095335" w="1095335">
                  <a:moveTo>
                    <a:pt x="0" y="0"/>
                  </a:moveTo>
                  <a:lnTo>
                    <a:pt x="1095335" y="0"/>
                  </a:lnTo>
                  <a:lnTo>
                    <a:pt x="1095335" y="1095335"/>
                  </a:lnTo>
                  <a:lnTo>
                    <a:pt x="0" y="1095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261740" y="4258124"/>
              <a:ext cx="997118" cy="1095335"/>
            </a:xfrm>
            <a:custGeom>
              <a:avLst/>
              <a:gdLst/>
              <a:ahLst/>
              <a:cxnLst/>
              <a:rect r="r" b="b" t="t" l="l"/>
              <a:pathLst>
                <a:path h="1095335" w="997118">
                  <a:moveTo>
                    <a:pt x="0" y="0"/>
                  </a:moveTo>
                  <a:lnTo>
                    <a:pt x="997118" y="0"/>
                  </a:lnTo>
                  <a:lnTo>
                    <a:pt x="997118" y="1095335"/>
                  </a:lnTo>
                  <a:lnTo>
                    <a:pt x="0" y="1095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099671" y="2185461"/>
            <a:ext cx="2893505" cy="4272673"/>
            <a:chOff x="0" y="0"/>
            <a:chExt cx="3858006" cy="569689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3858006" cy="5696897"/>
              <a:chOff x="0" y="0"/>
              <a:chExt cx="1301337" cy="192159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01337" cy="1921592"/>
              </a:xfrm>
              <a:custGeom>
                <a:avLst/>
                <a:gdLst/>
                <a:ahLst/>
                <a:cxnLst/>
                <a:rect r="r" b="b" t="t" l="l"/>
                <a:pathLst>
                  <a:path h="1921592" w="1301337">
                    <a:moveTo>
                      <a:pt x="1301337" y="83227"/>
                    </a:moveTo>
                    <a:lnTo>
                      <a:pt x="1301337" y="1838366"/>
                    </a:lnTo>
                    <a:cubicBezTo>
                      <a:pt x="1301337" y="1884330"/>
                      <a:pt x="1264075" y="1921592"/>
                      <a:pt x="1218111" y="1921592"/>
                    </a:cubicBezTo>
                    <a:lnTo>
                      <a:pt x="83227" y="1921592"/>
                    </a:lnTo>
                    <a:cubicBezTo>
                      <a:pt x="37262" y="1921592"/>
                      <a:pt x="0" y="1884330"/>
                      <a:pt x="0" y="1838366"/>
                    </a:cubicBezTo>
                    <a:lnTo>
                      <a:pt x="0" y="83227"/>
                    </a:lnTo>
                    <a:cubicBezTo>
                      <a:pt x="0" y="37262"/>
                      <a:pt x="37262" y="0"/>
                      <a:pt x="83227" y="0"/>
                    </a:cubicBezTo>
                    <a:lnTo>
                      <a:pt x="1218111" y="0"/>
                    </a:lnTo>
                    <a:cubicBezTo>
                      <a:pt x="1264075" y="0"/>
                      <a:pt x="1301337" y="37262"/>
                      <a:pt x="1301337" y="83227"/>
                    </a:cubicBezTo>
                    <a:close/>
                  </a:path>
                </a:pathLst>
              </a:custGeom>
              <a:solidFill>
                <a:srgbClr val="FDFDFD">
                  <a:alpha val="62745"/>
                </a:srgbClr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301337" cy="1959692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349529" y="301482"/>
              <a:ext cx="3159733" cy="3728298"/>
            </a:xfrm>
            <a:custGeom>
              <a:avLst/>
              <a:gdLst/>
              <a:ahLst/>
              <a:cxnLst/>
              <a:rect r="r" b="b" t="t" l="l"/>
              <a:pathLst>
                <a:path h="3728298" w="3159733">
                  <a:moveTo>
                    <a:pt x="0" y="0"/>
                  </a:moveTo>
                  <a:lnTo>
                    <a:pt x="3159733" y="0"/>
                  </a:lnTo>
                  <a:lnTo>
                    <a:pt x="3159733" y="3728298"/>
                  </a:lnTo>
                  <a:lnTo>
                    <a:pt x="0" y="3728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41585" y="4258124"/>
              <a:ext cx="1095335" cy="1095335"/>
            </a:xfrm>
            <a:custGeom>
              <a:avLst/>
              <a:gdLst/>
              <a:ahLst/>
              <a:cxnLst/>
              <a:rect r="r" b="b" t="t" l="l"/>
              <a:pathLst>
                <a:path h="1095335" w="1095335">
                  <a:moveTo>
                    <a:pt x="0" y="0"/>
                  </a:moveTo>
                  <a:lnTo>
                    <a:pt x="1095335" y="0"/>
                  </a:lnTo>
                  <a:lnTo>
                    <a:pt x="1095335" y="1095335"/>
                  </a:lnTo>
                  <a:lnTo>
                    <a:pt x="0" y="1095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60099" y="4185485"/>
              <a:ext cx="997118" cy="1095335"/>
            </a:xfrm>
            <a:custGeom>
              <a:avLst/>
              <a:gdLst/>
              <a:ahLst/>
              <a:cxnLst/>
              <a:rect r="r" b="b" t="t" l="l"/>
              <a:pathLst>
                <a:path h="1095335" w="997118">
                  <a:moveTo>
                    <a:pt x="0" y="0"/>
                  </a:moveTo>
                  <a:lnTo>
                    <a:pt x="997118" y="0"/>
                  </a:lnTo>
                  <a:lnTo>
                    <a:pt x="997118" y="1095335"/>
                  </a:lnTo>
                  <a:lnTo>
                    <a:pt x="0" y="1095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662597" y="4182219"/>
              <a:ext cx="997118" cy="1095335"/>
            </a:xfrm>
            <a:custGeom>
              <a:avLst/>
              <a:gdLst/>
              <a:ahLst/>
              <a:cxnLst/>
              <a:rect r="r" b="b" t="t" l="l"/>
              <a:pathLst>
                <a:path h="1095335" w="997118">
                  <a:moveTo>
                    <a:pt x="0" y="0"/>
                  </a:moveTo>
                  <a:lnTo>
                    <a:pt x="997118" y="0"/>
                  </a:lnTo>
                  <a:lnTo>
                    <a:pt x="997118" y="1095335"/>
                  </a:lnTo>
                  <a:lnTo>
                    <a:pt x="0" y="1095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275155" y="4258124"/>
              <a:ext cx="997118" cy="1095335"/>
            </a:xfrm>
            <a:custGeom>
              <a:avLst/>
              <a:gdLst/>
              <a:ahLst/>
              <a:cxnLst/>
              <a:rect r="r" b="b" t="t" l="l"/>
              <a:pathLst>
                <a:path h="1095335" w="997118">
                  <a:moveTo>
                    <a:pt x="0" y="0"/>
                  </a:moveTo>
                  <a:lnTo>
                    <a:pt x="997118" y="0"/>
                  </a:lnTo>
                  <a:lnTo>
                    <a:pt x="997118" y="1095335"/>
                  </a:lnTo>
                  <a:lnTo>
                    <a:pt x="0" y="1095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457312" y="6946952"/>
            <a:ext cx="9134208" cy="2719661"/>
            <a:chOff x="0" y="0"/>
            <a:chExt cx="12178943" cy="3626215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2178943" cy="3626215"/>
              <a:chOff x="0" y="0"/>
              <a:chExt cx="3619721" cy="107774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619721" cy="1077743"/>
              </a:xfrm>
              <a:custGeom>
                <a:avLst/>
                <a:gdLst/>
                <a:ahLst/>
                <a:cxnLst/>
                <a:rect r="r" b="b" t="t" l="l"/>
                <a:pathLst>
                  <a:path h="1077743" w="3619721">
                    <a:moveTo>
                      <a:pt x="3619721" y="29921"/>
                    </a:moveTo>
                    <a:lnTo>
                      <a:pt x="3619721" y="1047822"/>
                    </a:lnTo>
                    <a:cubicBezTo>
                      <a:pt x="3619721" y="1055757"/>
                      <a:pt x="3616569" y="1063368"/>
                      <a:pt x="3610957" y="1068979"/>
                    </a:cubicBezTo>
                    <a:cubicBezTo>
                      <a:pt x="3605346" y="1074590"/>
                      <a:pt x="3597736" y="1077743"/>
                      <a:pt x="3589800" y="1077743"/>
                    </a:cubicBezTo>
                    <a:lnTo>
                      <a:pt x="29921" y="1077743"/>
                    </a:lnTo>
                    <a:cubicBezTo>
                      <a:pt x="21985" y="1077743"/>
                      <a:pt x="14375" y="1074590"/>
                      <a:pt x="8764" y="1068979"/>
                    </a:cubicBezTo>
                    <a:cubicBezTo>
                      <a:pt x="3152" y="1063368"/>
                      <a:pt x="0" y="1055757"/>
                      <a:pt x="0" y="1047822"/>
                    </a:cubicBezTo>
                    <a:lnTo>
                      <a:pt x="0" y="29921"/>
                    </a:lnTo>
                    <a:cubicBezTo>
                      <a:pt x="0" y="21985"/>
                      <a:pt x="3152" y="14375"/>
                      <a:pt x="8764" y="8764"/>
                    </a:cubicBezTo>
                    <a:cubicBezTo>
                      <a:pt x="14375" y="3152"/>
                      <a:pt x="21985" y="0"/>
                      <a:pt x="29921" y="0"/>
                    </a:cubicBezTo>
                    <a:lnTo>
                      <a:pt x="3589800" y="0"/>
                    </a:lnTo>
                    <a:cubicBezTo>
                      <a:pt x="3597736" y="0"/>
                      <a:pt x="3605346" y="3152"/>
                      <a:pt x="3610957" y="8764"/>
                    </a:cubicBezTo>
                    <a:cubicBezTo>
                      <a:pt x="3616569" y="14375"/>
                      <a:pt x="3619721" y="21985"/>
                      <a:pt x="3619721" y="29921"/>
                    </a:cubicBezTo>
                    <a:close/>
                  </a:path>
                </a:pathLst>
              </a:custGeom>
              <a:solidFill>
                <a:srgbClr val="FDFDFD">
                  <a:alpha val="62745"/>
                </a:srgbClr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3619721" cy="1115843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93539" y="264801"/>
              <a:ext cx="5750933" cy="3112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09412" indent="-204706" lvl="1">
                <a:lnSpc>
                  <a:spcPts val="2654"/>
                </a:lnSpc>
                <a:buFont typeface="Arial"/>
                <a:buChar char="•"/>
              </a:pPr>
              <a:r>
                <a:rPr lang="en-US" sz="189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A</a:t>
              </a:r>
              <a:r>
                <a:rPr lang="en-US" sz="189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lunecări</a:t>
              </a:r>
            </a:p>
            <a:p>
              <a:pPr algn="just" marL="409412" indent="-204706" lvl="1">
                <a:lnSpc>
                  <a:spcPts val="2654"/>
                </a:lnSpc>
                <a:buFont typeface="Arial"/>
                <a:buChar char="•"/>
              </a:pPr>
              <a:r>
                <a:rPr lang="en-US" sz="189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Panta</a:t>
              </a:r>
            </a:p>
            <a:p>
              <a:pPr algn="just" marL="409412" indent="-204706" lvl="1">
                <a:lnSpc>
                  <a:spcPts val="2654"/>
                </a:lnSpc>
                <a:buFont typeface="Arial"/>
                <a:buChar char="•"/>
              </a:pPr>
              <a:r>
                <a:rPr lang="en-US" sz="189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Temperatura medie anuală</a:t>
              </a:r>
            </a:p>
            <a:p>
              <a:pPr algn="just" marL="409412" indent="-204706" lvl="1">
                <a:lnSpc>
                  <a:spcPts val="2654"/>
                </a:lnSpc>
                <a:buFont typeface="Arial"/>
                <a:buChar char="•"/>
              </a:pPr>
              <a:r>
                <a:rPr lang="en-US" sz="189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Precipitații</a:t>
              </a:r>
            </a:p>
            <a:p>
              <a:pPr algn="just" marL="409412" indent="-204706" lvl="1">
                <a:lnSpc>
                  <a:spcPts val="2654"/>
                </a:lnSpc>
                <a:buFont typeface="Arial"/>
                <a:buChar char="•"/>
              </a:pPr>
              <a:r>
                <a:rPr lang="en-US" sz="189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Salinizarea/Alcalizarea</a:t>
              </a:r>
            </a:p>
            <a:p>
              <a:pPr algn="just" marL="409412" indent="-204706" lvl="1">
                <a:lnSpc>
                  <a:spcPts val="2654"/>
                </a:lnSpc>
                <a:buFont typeface="Arial"/>
                <a:buChar char="•"/>
              </a:pPr>
              <a:r>
                <a:rPr lang="en-US" sz="189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Gleizarea</a:t>
              </a:r>
            </a:p>
            <a:p>
              <a:pPr algn="just" marL="409412" indent="-204706" lvl="1">
                <a:lnSpc>
                  <a:spcPts val="2654"/>
                </a:lnSpc>
                <a:buFont typeface="Arial"/>
                <a:buChar char="•"/>
              </a:pPr>
              <a:r>
                <a:rPr lang="en-US" sz="189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Pseudogleiza</a:t>
              </a:r>
              <a:r>
                <a:rPr lang="en-US" sz="189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rea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6019521" y="264801"/>
              <a:ext cx="5750933" cy="3112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09412" indent="-204706" lvl="1">
                <a:lnSpc>
                  <a:spcPts val="2654"/>
                </a:lnSpc>
                <a:buFont typeface="Arial"/>
                <a:buChar char="•"/>
              </a:pPr>
              <a:r>
                <a:rPr lang="en-US" sz="189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Adâncimea apelor freatice</a:t>
              </a:r>
            </a:p>
            <a:p>
              <a:pPr algn="just" marL="409412" indent="-204706" lvl="1">
                <a:lnSpc>
                  <a:spcPts val="2654"/>
                </a:lnSpc>
                <a:buFont typeface="Arial"/>
                <a:buChar char="•"/>
              </a:pPr>
              <a:r>
                <a:rPr lang="en-US" sz="189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Textura</a:t>
              </a:r>
            </a:p>
            <a:p>
              <a:pPr algn="just" marL="409412" indent="-204706" lvl="1">
                <a:lnSpc>
                  <a:spcPts val="2654"/>
                </a:lnSpc>
                <a:buFont typeface="Arial"/>
                <a:buChar char="•"/>
              </a:pPr>
              <a:r>
                <a:rPr lang="en-US" sz="189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Volumul edafic util</a:t>
              </a:r>
            </a:p>
            <a:p>
              <a:pPr algn="just" marL="409412" indent="-204706" lvl="1">
                <a:lnSpc>
                  <a:spcPts val="2654"/>
                </a:lnSpc>
                <a:buFont typeface="Arial"/>
                <a:buChar char="•"/>
              </a:pPr>
              <a:r>
                <a:rPr lang="en-US" sz="189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Por</a:t>
              </a:r>
              <a:r>
                <a:rPr lang="en-US" sz="189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ozitatea</a:t>
              </a:r>
            </a:p>
            <a:p>
              <a:pPr algn="just" marL="409412" indent="-204706" lvl="1">
                <a:lnSpc>
                  <a:spcPts val="2654"/>
                </a:lnSpc>
                <a:buFont typeface="Arial"/>
                <a:buChar char="•"/>
              </a:pPr>
              <a:r>
                <a:rPr lang="en-US" sz="189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pH</a:t>
              </a:r>
            </a:p>
            <a:p>
              <a:pPr algn="just" marL="409412" indent="-204706" lvl="1">
                <a:lnSpc>
                  <a:spcPts val="2654"/>
                </a:lnSpc>
                <a:buFont typeface="Arial"/>
                <a:buChar char="•"/>
              </a:pPr>
              <a:r>
                <a:rPr lang="en-US" sz="189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Rezerva de humus</a:t>
              </a:r>
            </a:p>
            <a:p>
              <a:pPr algn="just" marL="409412" indent="-204706" lvl="1">
                <a:lnSpc>
                  <a:spcPts val="2654"/>
                </a:lnSpc>
                <a:buFont typeface="Arial"/>
                <a:buChar char="•"/>
              </a:pPr>
              <a:r>
                <a:rPr lang="en-US" sz="189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Conținutul de carbonați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8229971" y="6482966"/>
            <a:ext cx="561038" cy="1117794"/>
          </a:xfrm>
          <a:custGeom>
            <a:avLst/>
            <a:gdLst/>
            <a:ahLst/>
            <a:cxnLst/>
            <a:rect r="r" b="b" t="t" l="l"/>
            <a:pathLst>
              <a:path h="1117794" w="561038">
                <a:moveTo>
                  <a:pt x="0" y="0"/>
                </a:moveTo>
                <a:lnTo>
                  <a:pt x="561038" y="0"/>
                </a:lnTo>
                <a:lnTo>
                  <a:pt x="561038" y="1117793"/>
                </a:lnTo>
                <a:lnTo>
                  <a:pt x="0" y="111779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821707" y="6433720"/>
            <a:ext cx="817833" cy="1026463"/>
          </a:xfrm>
          <a:custGeom>
            <a:avLst/>
            <a:gdLst/>
            <a:ahLst/>
            <a:cxnLst/>
            <a:rect r="r" b="b" t="t" l="l"/>
            <a:pathLst>
              <a:path h="1026463" w="817833">
                <a:moveTo>
                  <a:pt x="0" y="0"/>
                </a:moveTo>
                <a:lnTo>
                  <a:pt x="817833" y="0"/>
                </a:lnTo>
                <a:lnTo>
                  <a:pt x="817833" y="1026464"/>
                </a:lnTo>
                <a:lnTo>
                  <a:pt x="0" y="102646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970946">
            <a:off x="17351085" y="8788880"/>
            <a:ext cx="480869" cy="938839"/>
          </a:xfrm>
          <a:custGeom>
            <a:avLst/>
            <a:gdLst/>
            <a:ahLst/>
            <a:cxnLst/>
            <a:rect r="r" b="b" t="t" l="l"/>
            <a:pathLst>
              <a:path h="938839" w="480869">
                <a:moveTo>
                  <a:pt x="0" y="0"/>
                </a:moveTo>
                <a:lnTo>
                  <a:pt x="480869" y="0"/>
                </a:lnTo>
                <a:lnTo>
                  <a:pt x="480869" y="938840"/>
                </a:lnTo>
                <a:lnTo>
                  <a:pt x="0" y="9388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6317917" y="6566775"/>
            <a:ext cx="737435" cy="389701"/>
          </a:xfrm>
          <a:custGeom>
            <a:avLst/>
            <a:gdLst/>
            <a:ahLst/>
            <a:cxnLst/>
            <a:rect r="r" b="b" t="t" l="l"/>
            <a:pathLst>
              <a:path h="389701" w="737435">
                <a:moveTo>
                  <a:pt x="0" y="0"/>
                </a:moveTo>
                <a:lnTo>
                  <a:pt x="737435" y="0"/>
                </a:lnTo>
                <a:lnTo>
                  <a:pt x="737435" y="389702"/>
                </a:lnTo>
                <a:lnTo>
                  <a:pt x="0" y="38970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241505" y="9258300"/>
            <a:ext cx="838095" cy="776771"/>
          </a:xfrm>
          <a:custGeom>
            <a:avLst/>
            <a:gdLst/>
            <a:ahLst/>
            <a:cxnLst/>
            <a:rect r="r" b="b" t="t" l="l"/>
            <a:pathLst>
              <a:path h="776771" w="838095">
                <a:moveTo>
                  <a:pt x="0" y="0"/>
                </a:moveTo>
                <a:lnTo>
                  <a:pt x="838095" y="0"/>
                </a:lnTo>
                <a:lnTo>
                  <a:pt x="838095" y="776771"/>
                </a:lnTo>
                <a:lnTo>
                  <a:pt x="0" y="77677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028700" y="6994237"/>
            <a:ext cx="6451950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    </a:t>
            </a:r>
            <a:r>
              <a:rPr lang="en-US" sz="24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D</a:t>
            </a:r>
            <a:r>
              <a:rPr lang="en-US" sz="24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eterminatorul ARec 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își pune ca scop iden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ti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f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simplă și comfortabilă a celor 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m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pre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ab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il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 culturi pentru parametrii terenului deținut de întreprinderea agricolă, în baza a  </a:t>
            </a:r>
            <a:r>
              <a:rPr lang="en-US" sz="24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14 parametri 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și concordanța lor.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536152" y="1068233"/>
            <a:ext cx="4492906" cy="5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3"/>
              </a:lnSpc>
              <a:spcBef>
                <a:spcPct val="0"/>
              </a:spcBef>
            </a:pPr>
            <a:r>
              <a:rPr lang="en-US" b="true" sz="296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ARéc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3397434"/>
            <a:ext cx="7201271" cy="30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    Folosirea rațională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a solurilor prin con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siderarea strictă a </a:t>
            </a:r>
            <a:r>
              <a:rPr lang="en-US" sz="2499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notelor de bonitare 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atr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bu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it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 acestora, permite evitarea factorilor limitativi, care crează un prag, după care toate investițiile de resurse materiale și umane în cultivarea plantelor, precum și daunele cauzate mediului devin inutile.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949161" y="2136355"/>
            <a:ext cx="2150510" cy="3778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22"/>
              </a:lnSpc>
            </a:pPr>
            <a:r>
              <a:rPr lang="en-US" sz="22016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=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223" r="0" b="-1010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D9B44">
                <a:alpha val="7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1312562" cy="593548"/>
          </a:xfrm>
          <a:custGeom>
            <a:avLst/>
            <a:gdLst/>
            <a:ahLst/>
            <a:cxnLst/>
            <a:rect r="r" b="b" t="t" l="l"/>
            <a:pathLst>
              <a:path h="593548" w="1312562">
                <a:moveTo>
                  <a:pt x="0" y="0"/>
                </a:moveTo>
                <a:lnTo>
                  <a:pt x="1312562" y="0"/>
                </a:lnTo>
                <a:lnTo>
                  <a:pt x="1312562" y="593548"/>
                </a:lnTo>
                <a:lnTo>
                  <a:pt x="0" y="593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510717"/>
            <a:ext cx="11201924" cy="68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7"/>
              </a:lnSpc>
            </a:pPr>
            <a:r>
              <a:rPr lang="en-US" sz="605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Utilitatea aplicațieie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6735" y="4026724"/>
            <a:ext cx="6138130" cy="124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    Problema m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ultor întreprinderi constă în ceea, că ele au fost s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ec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al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izate 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în jurul unui </a:t>
            </a:r>
            <a:r>
              <a:rPr lang="en-US" sz="24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număr restrâns 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de culturi.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36152" y="1068233"/>
            <a:ext cx="4492906" cy="5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3"/>
              </a:lnSpc>
              <a:spcBef>
                <a:spcPct val="0"/>
              </a:spcBef>
            </a:pPr>
            <a:r>
              <a:rPr lang="en-US" b="true" sz="296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ARéc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1039" y="5499400"/>
            <a:ext cx="6213825" cy="37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    Cu ajut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orul determinatorului </a:t>
            </a:r>
            <a:r>
              <a:rPr lang="en-US" sz="24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ARec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, antreprenorilor 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l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 va f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m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ult ma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ușor s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ă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determine </a:t>
            </a:r>
            <a:r>
              <a:rPr lang="en-US" sz="24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noi oportunități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, care vor spori venitul lor, iar la nivel global – vor </a:t>
            </a:r>
            <a:r>
              <a:rPr lang="en-US" sz="2400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ridica randamentul</a:t>
            </a:r>
            <a:r>
              <a:rPr lang="en-US" sz="24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de folosire a suprafețelor agricole, deminuînd creșterea nevoiei de a le extinde și efectul negativ asupra mediului, indus de acest fapt.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442999" y="3966970"/>
            <a:ext cx="4787625" cy="5312888"/>
            <a:chOff x="0" y="0"/>
            <a:chExt cx="6383500" cy="708385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383500" cy="7083851"/>
              <a:chOff x="0" y="0"/>
              <a:chExt cx="1594682" cy="176962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594682" cy="1769622"/>
              </a:xfrm>
              <a:custGeom>
                <a:avLst/>
                <a:gdLst/>
                <a:ahLst/>
                <a:cxnLst/>
                <a:rect r="r" b="b" t="t" l="l"/>
                <a:pathLst>
                  <a:path h="1769622" w="1594682">
                    <a:moveTo>
                      <a:pt x="1594682" y="67917"/>
                    </a:moveTo>
                    <a:lnTo>
                      <a:pt x="1594682" y="1701705"/>
                    </a:lnTo>
                    <a:cubicBezTo>
                      <a:pt x="1594682" y="1719718"/>
                      <a:pt x="1587527" y="1736993"/>
                      <a:pt x="1574790" y="1749730"/>
                    </a:cubicBezTo>
                    <a:cubicBezTo>
                      <a:pt x="1562053" y="1762467"/>
                      <a:pt x="1544778" y="1769622"/>
                      <a:pt x="1526765" y="1769622"/>
                    </a:cubicBezTo>
                    <a:lnTo>
                      <a:pt x="67917" y="1769622"/>
                    </a:lnTo>
                    <a:cubicBezTo>
                      <a:pt x="49904" y="1769622"/>
                      <a:pt x="32629" y="1762467"/>
                      <a:pt x="19892" y="1749730"/>
                    </a:cubicBezTo>
                    <a:cubicBezTo>
                      <a:pt x="7156" y="1736993"/>
                      <a:pt x="0" y="1719718"/>
                      <a:pt x="0" y="1701705"/>
                    </a:cubicBezTo>
                    <a:lnTo>
                      <a:pt x="0" y="67917"/>
                    </a:lnTo>
                    <a:cubicBezTo>
                      <a:pt x="0" y="49904"/>
                      <a:pt x="7156" y="32629"/>
                      <a:pt x="19892" y="19892"/>
                    </a:cubicBezTo>
                    <a:cubicBezTo>
                      <a:pt x="32629" y="7156"/>
                      <a:pt x="49904" y="0"/>
                      <a:pt x="67917" y="0"/>
                    </a:cubicBezTo>
                    <a:lnTo>
                      <a:pt x="1526765" y="0"/>
                    </a:lnTo>
                    <a:cubicBezTo>
                      <a:pt x="1544778" y="0"/>
                      <a:pt x="1562053" y="7156"/>
                      <a:pt x="1574790" y="19892"/>
                    </a:cubicBezTo>
                    <a:cubicBezTo>
                      <a:pt x="1587527" y="32629"/>
                      <a:pt x="1594682" y="49904"/>
                      <a:pt x="1594682" y="67917"/>
                    </a:cubicBezTo>
                    <a:close/>
                  </a:path>
                </a:pathLst>
              </a:custGeom>
              <a:solidFill>
                <a:srgbClr val="FDFDFD">
                  <a:alpha val="62745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594682" cy="1807722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238770" y="261780"/>
              <a:ext cx="1895860" cy="2845568"/>
            </a:xfrm>
            <a:custGeom>
              <a:avLst/>
              <a:gdLst/>
              <a:ahLst/>
              <a:cxnLst/>
              <a:rect r="r" b="b" t="t" l="l"/>
              <a:pathLst>
                <a:path h="2845568" w="1895860">
                  <a:moveTo>
                    <a:pt x="0" y="0"/>
                  </a:moveTo>
                  <a:lnTo>
                    <a:pt x="1895860" y="0"/>
                  </a:lnTo>
                  <a:lnTo>
                    <a:pt x="1895860" y="2845568"/>
                  </a:lnTo>
                  <a:lnTo>
                    <a:pt x="0" y="2845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239238" y="261780"/>
              <a:ext cx="1905024" cy="2845568"/>
            </a:xfrm>
            <a:custGeom>
              <a:avLst/>
              <a:gdLst/>
              <a:ahLst/>
              <a:cxnLst/>
              <a:rect r="r" b="b" t="t" l="l"/>
              <a:pathLst>
                <a:path h="2845568" w="1905024">
                  <a:moveTo>
                    <a:pt x="0" y="0"/>
                  </a:moveTo>
                  <a:lnTo>
                    <a:pt x="1905024" y="0"/>
                  </a:lnTo>
                  <a:lnTo>
                    <a:pt x="1905024" y="2845568"/>
                  </a:lnTo>
                  <a:lnTo>
                    <a:pt x="0" y="2845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014" t="0" r="-6014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245862" y="261780"/>
              <a:ext cx="1905918" cy="2845568"/>
            </a:xfrm>
            <a:custGeom>
              <a:avLst/>
              <a:gdLst/>
              <a:ahLst/>
              <a:cxnLst/>
              <a:rect r="r" b="b" t="t" l="l"/>
              <a:pathLst>
                <a:path h="2845568" w="1905918">
                  <a:moveTo>
                    <a:pt x="0" y="0"/>
                  </a:moveTo>
                  <a:lnTo>
                    <a:pt x="1905918" y="0"/>
                  </a:lnTo>
                  <a:lnTo>
                    <a:pt x="1905918" y="2845568"/>
                  </a:lnTo>
                  <a:lnTo>
                    <a:pt x="0" y="2845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918" t="-59893" r="-41131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81671" y="3705498"/>
              <a:ext cx="1905918" cy="2845568"/>
            </a:xfrm>
            <a:custGeom>
              <a:avLst/>
              <a:gdLst/>
              <a:ahLst/>
              <a:cxnLst/>
              <a:rect r="r" b="b" t="t" l="l"/>
              <a:pathLst>
                <a:path h="2845568" w="1905918">
                  <a:moveTo>
                    <a:pt x="0" y="0"/>
                  </a:moveTo>
                  <a:lnTo>
                    <a:pt x="1905918" y="0"/>
                  </a:lnTo>
                  <a:lnTo>
                    <a:pt x="1905918" y="2845568"/>
                  </a:lnTo>
                  <a:lnTo>
                    <a:pt x="0" y="2845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52627" t="0" r="-71465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305603" y="3705498"/>
              <a:ext cx="1905918" cy="2846277"/>
            </a:xfrm>
            <a:custGeom>
              <a:avLst/>
              <a:gdLst/>
              <a:ahLst/>
              <a:cxnLst/>
              <a:rect r="r" b="b" t="t" l="l"/>
              <a:pathLst>
                <a:path h="2846277" w="1905918">
                  <a:moveTo>
                    <a:pt x="0" y="0"/>
                  </a:moveTo>
                  <a:lnTo>
                    <a:pt x="1905918" y="0"/>
                  </a:lnTo>
                  <a:lnTo>
                    <a:pt x="1905918" y="2846277"/>
                  </a:lnTo>
                  <a:lnTo>
                    <a:pt x="0" y="2846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2074" t="0" r="-6207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-5400437">
              <a:off x="1934274" y="2948996"/>
              <a:ext cx="347337" cy="1126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&gt;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-5400437">
              <a:off x="4015043" y="2948996"/>
              <a:ext cx="347337" cy="1126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&gt;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704204" y="2986877"/>
              <a:ext cx="954934" cy="525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12ha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708441" y="2986877"/>
              <a:ext cx="954934" cy="525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12ha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715762" y="2986877"/>
              <a:ext cx="954934" cy="525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12ha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687626" y="6430288"/>
              <a:ext cx="954934" cy="525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12ha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781095" y="6430288"/>
              <a:ext cx="954934" cy="525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12ha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292547" y="5284712"/>
            <a:ext cx="4787625" cy="2718288"/>
            <a:chOff x="0" y="0"/>
            <a:chExt cx="6383500" cy="3624384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383500" cy="3624384"/>
              <a:chOff x="0" y="0"/>
              <a:chExt cx="1594682" cy="90541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594682" cy="905410"/>
              </a:xfrm>
              <a:custGeom>
                <a:avLst/>
                <a:gdLst/>
                <a:ahLst/>
                <a:cxnLst/>
                <a:rect r="r" b="b" t="t" l="l"/>
                <a:pathLst>
                  <a:path h="905410" w="1594682">
                    <a:moveTo>
                      <a:pt x="1594682" y="67917"/>
                    </a:moveTo>
                    <a:lnTo>
                      <a:pt x="1594682" y="837493"/>
                    </a:lnTo>
                    <a:cubicBezTo>
                      <a:pt x="1594682" y="875003"/>
                      <a:pt x="1564275" y="905410"/>
                      <a:pt x="1526765" y="905410"/>
                    </a:cubicBezTo>
                    <a:lnTo>
                      <a:pt x="67917" y="905410"/>
                    </a:lnTo>
                    <a:cubicBezTo>
                      <a:pt x="49904" y="905410"/>
                      <a:pt x="32629" y="898255"/>
                      <a:pt x="19892" y="885518"/>
                    </a:cubicBezTo>
                    <a:cubicBezTo>
                      <a:pt x="7156" y="872781"/>
                      <a:pt x="0" y="855506"/>
                      <a:pt x="0" y="837493"/>
                    </a:cubicBezTo>
                    <a:lnTo>
                      <a:pt x="0" y="67917"/>
                    </a:lnTo>
                    <a:cubicBezTo>
                      <a:pt x="0" y="49904"/>
                      <a:pt x="7156" y="32629"/>
                      <a:pt x="19892" y="19892"/>
                    </a:cubicBezTo>
                    <a:cubicBezTo>
                      <a:pt x="32629" y="7156"/>
                      <a:pt x="49904" y="0"/>
                      <a:pt x="67917" y="0"/>
                    </a:cubicBezTo>
                    <a:lnTo>
                      <a:pt x="1526765" y="0"/>
                    </a:lnTo>
                    <a:cubicBezTo>
                      <a:pt x="1544778" y="0"/>
                      <a:pt x="1562053" y="7156"/>
                      <a:pt x="1574790" y="19892"/>
                    </a:cubicBezTo>
                    <a:cubicBezTo>
                      <a:pt x="1587527" y="32629"/>
                      <a:pt x="1594682" y="49904"/>
                      <a:pt x="1594682" y="67917"/>
                    </a:cubicBezTo>
                    <a:close/>
                  </a:path>
                </a:pathLst>
              </a:custGeom>
              <a:solidFill>
                <a:srgbClr val="FDFDFD">
                  <a:alpha val="62745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594682" cy="943510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238770" y="261780"/>
              <a:ext cx="1895860" cy="2845568"/>
            </a:xfrm>
            <a:custGeom>
              <a:avLst/>
              <a:gdLst/>
              <a:ahLst/>
              <a:cxnLst/>
              <a:rect r="r" b="b" t="t" l="l"/>
              <a:pathLst>
                <a:path h="2845568" w="1895860">
                  <a:moveTo>
                    <a:pt x="0" y="0"/>
                  </a:moveTo>
                  <a:lnTo>
                    <a:pt x="1895860" y="0"/>
                  </a:lnTo>
                  <a:lnTo>
                    <a:pt x="1895860" y="2845568"/>
                  </a:lnTo>
                  <a:lnTo>
                    <a:pt x="0" y="2845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239238" y="261780"/>
              <a:ext cx="1905024" cy="2845568"/>
            </a:xfrm>
            <a:custGeom>
              <a:avLst/>
              <a:gdLst/>
              <a:ahLst/>
              <a:cxnLst/>
              <a:rect r="r" b="b" t="t" l="l"/>
              <a:pathLst>
                <a:path h="2845568" w="1905024">
                  <a:moveTo>
                    <a:pt x="0" y="0"/>
                  </a:moveTo>
                  <a:lnTo>
                    <a:pt x="1905024" y="0"/>
                  </a:lnTo>
                  <a:lnTo>
                    <a:pt x="1905024" y="2845568"/>
                  </a:lnTo>
                  <a:lnTo>
                    <a:pt x="0" y="2845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014" t="0" r="-6014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4245862" y="261780"/>
              <a:ext cx="1905918" cy="2845568"/>
            </a:xfrm>
            <a:custGeom>
              <a:avLst/>
              <a:gdLst/>
              <a:ahLst/>
              <a:cxnLst/>
              <a:rect r="r" b="b" t="t" l="l"/>
              <a:pathLst>
                <a:path h="2845568" w="1905918">
                  <a:moveTo>
                    <a:pt x="0" y="0"/>
                  </a:moveTo>
                  <a:lnTo>
                    <a:pt x="1905918" y="0"/>
                  </a:lnTo>
                  <a:lnTo>
                    <a:pt x="1905918" y="2845568"/>
                  </a:lnTo>
                  <a:lnTo>
                    <a:pt x="0" y="2845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918" t="-59893" r="-4113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704204" y="2986877"/>
              <a:ext cx="1048408" cy="525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20ha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708441" y="2986877"/>
              <a:ext cx="1106829" cy="525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</a:t>
              </a:r>
              <a:r>
                <a:rPr lang="en-US" sz="2400" b="true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ha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4715762" y="2986877"/>
              <a:ext cx="1083460" cy="525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</a:t>
              </a:r>
              <a:r>
                <a:rPr lang="en-US" sz="2400" b="true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ha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411599" y="5685024"/>
            <a:ext cx="260503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FDFDFD"/>
                </a:solidFill>
                <a:latin typeface="Gotham Bold"/>
                <a:ea typeface="Gotham Bold"/>
                <a:cs typeface="Gotham Bold"/>
                <a:sym typeface="Gotham Bold"/>
              </a:rPr>
              <a:t>&gt;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365" y="0"/>
            <a:ext cx="18328731" cy="10287000"/>
          </a:xfrm>
          <a:custGeom>
            <a:avLst/>
            <a:gdLst/>
            <a:ahLst/>
            <a:cxnLst/>
            <a:rect r="r" b="b" t="t" l="l"/>
            <a:pathLst>
              <a:path h="10287000" w="18328731">
                <a:moveTo>
                  <a:pt x="0" y="0"/>
                </a:moveTo>
                <a:lnTo>
                  <a:pt x="18328730" y="0"/>
                </a:lnTo>
                <a:lnTo>
                  <a:pt x="183287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D9B44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1312562" cy="593548"/>
          </a:xfrm>
          <a:custGeom>
            <a:avLst/>
            <a:gdLst/>
            <a:ahLst/>
            <a:cxnLst/>
            <a:rect r="r" b="b" t="t" l="l"/>
            <a:pathLst>
              <a:path h="593548" w="1312562">
                <a:moveTo>
                  <a:pt x="0" y="0"/>
                </a:moveTo>
                <a:lnTo>
                  <a:pt x="1312562" y="0"/>
                </a:lnTo>
                <a:lnTo>
                  <a:pt x="1312562" y="593548"/>
                </a:lnTo>
                <a:lnTo>
                  <a:pt x="0" y="593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12955" y="1966791"/>
            <a:ext cx="10062090" cy="5659925"/>
          </a:xfrm>
          <a:custGeom>
            <a:avLst/>
            <a:gdLst/>
            <a:ahLst/>
            <a:cxnLst/>
            <a:rect r="r" b="b" t="t" l="l"/>
            <a:pathLst>
              <a:path h="5659925" w="10062090">
                <a:moveTo>
                  <a:pt x="0" y="0"/>
                </a:moveTo>
                <a:lnTo>
                  <a:pt x="10062090" y="0"/>
                </a:lnTo>
                <a:lnTo>
                  <a:pt x="10062090" y="5659926"/>
                </a:lnTo>
                <a:lnTo>
                  <a:pt x="0" y="56599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36152" y="1068233"/>
            <a:ext cx="4492906" cy="5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3"/>
              </a:lnSpc>
              <a:spcBef>
                <a:spcPct val="0"/>
              </a:spcBef>
            </a:pPr>
            <a:r>
              <a:rPr lang="en-US" b="true" sz="296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ARéc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27719" y="7962451"/>
            <a:ext cx="14032561" cy="174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Inform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ația despre </a:t>
            </a:r>
            <a:r>
              <a:rPr lang="en-US" b="true" sz="24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valoarea terenului 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din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pu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nct de vedere agricol poate la fel să ajute în planificarea afacerilor încă neapărute, sau (ce e probabil chiar mai important) la </a:t>
            </a:r>
            <a:r>
              <a:rPr lang="en-US" b="true" sz="24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prevenirea încercărilor nereușite 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de a cultiva un teren, care ar fi fost mult mai potrivit, pentru un alt tip de activitate sau o altă specie de plante.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312562" cy="593548"/>
          </a:xfrm>
          <a:custGeom>
            <a:avLst/>
            <a:gdLst/>
            <a:ahLst/>
            <a:cxnLst/>
            <a:rect r="r" b="b" t="t" l="l"/>
            <a:pathLst>
              <a:path h="593548" w="1312562">
                <a:moveTo>
                  <a:pt x="0" y="0"/>
                </a:moveTo>
                <a:lnTo>
                  <a:pt x="1312562" y="0"/>
                </a:lnTo>
                <a:lnTo>
                  <a:pt x="1312562" y="593548"/>
                </a:lnTo>
                <a:lnTo>
                  <a:pt x="0" y="593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660764" y="4288857"/>
            <a:ext cx="8966472" cy="14462052"/>
            <a:chOff x="0" y="0"/>
            <a:chExt cx="11955296" cy="19282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827125" y="69221"/>
              <a:ext cx="8301046" cy="13544710"/>
            </a:xfrm>
            <a:custGeom>
              <a:avLst/>
              <a:gdLst/>
              <a:ahLst/>
              <a:cxnLst/>
              <a:rect r="r" b="b" t="t" l="l"/>
              <a:pathLst>
                <a:path h="13544710" w="8301046">
                  <a:moveTo>
                    <a:pt x="0" y="0"/>
                  </a:moveTo>
                  <a:lnTo>
                    <a:pt x="8301046" y="0"/>
                  </a:lnTo>
                  <a:lnTo>
                    <a:pt x="8301046" y="13544710"/>
                  </a:lnTo>
                  <a:lnTo>
                    <a:pt x="0" y="1354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955296" cy="19282736"/>
            </a:xfrm>
            <a:custGeom>
              <a:avLst/>
              <a:gdLst/>
              <a:ahLst/>
              <a:cxnLst/>
              <a:rect r="r" b="b" t="t" l="l"/>
              <a:pathLst>
                <a:path h="19282736" w="11955296">
                  <a:moveTo>
                    <a:pt x="0" y="0"/>
                  </a:moveTo>
                  <a:lnTo>
                    <a:pt x="11955296" y="0"/>
                  </a:lnTo>
                  <a:lnTo>
                    <a:pt x="11955296" y="19282736"/>
                  </a:lnTo>
                  <a:lnTo>
                    <a:pt x="0" y="19282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536152" y="1068233"/>
            <a:ext cx="4492906" cy="5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3"/>
              </a:lnSpc>
              <a:spcBef>
                <a:spcPct val="0"/>
              </a:spcBef>
            </a:pPr>
            <a:r>
              <a:rPr lang="en-US" b="true" sz="296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ARéc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88606" y="2031406"/>
            <a:ext cx="10910789" cy="200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5"/>
              </a:lnSpc>
            </a:pPr>
            <a:r>
              <a:rPr lang="en-US" sz="8958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Prezentarea aplicației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223" r="0" b="-1010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D9B44">
                <a:alpha val="7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1312562" cy="593548"/>
          </a:xfrm>
          <a:custGeom>
            <a:avLst/>
            <a:gdLst/>
            <a:ahLst/>
            <a:cxnLst/>
            <a:rect r="r" b="b" t="t" l="l"/>
            <a:pathLst>
              <a:path h="593548" w="1312562">
                <a:moveTo>
                  <a:pt x="0" y="0"/>
                </a:moveTo>
                <a:lnTo>
                  <a:pt x="1312562" y="0"/>
                </a:lnTo>
                <a:lnTo>
                  <a:pt x="1312562" y="593548"/>
                </a:lnTo>
                <a:lnTo>
                  <a:pt x="0" y="593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67212" y="3211270"/>
            <a:ext cx="460964" cy="578557"/>
          </a:xfrm>
          <a:custGeom>
            <a:avLst/>
            <a:gdLst/>
            <a:ahLst/>
            <a:cxnLst/>
            <a:rect r="r" b="b" t="t" l="l"/>
            <a:pathLst>
              <a:path h="578557" w="460964">
                <a:moveTo>
                  <a:pt x="0" y="0"/>
                </a:moveTo>
                <a:lnTo>
                  <a:pt x="460964" y="0"/>
                </a:lnTo>
                <a:lnTo>
                  <a:pt x="460964" y="578557"/>
                </a:lnTo>
                <a:lnTo>
                  <a:pt x="0" y="578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489229" y="3504692"/>
            <a:ext cx="5041757" cy="3163944"/>
            <a:chOff x="0" y="0"/>
            <a:chExt cx="6722343" cy="421859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722343" cy="4218593"/>
              <a:chOff x="0" y="0"/>
              <a:chExt cx="1679329" cy="10538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679329" cy="1053850"/>
              </a:xfrm>
              <a:custGeom>
                <a:avLst/>
                <a:gdLst/>
                <a:ahLst/>
                <a:cxnLst/>
                <a:rect r="r" b="b" t="t" l="l"/>
                <a:pathLst>
                  <a:path h="1053850" w="1679329">
                    <a:moveTo>
                      <a:pt x="1679329" y="64494"/>
                    </a:moveTo>
                    <a:lnTo>
                      <a:pt x="1679329" y="989356"/>
                    </a:lnTo>
                    <a:cubicBezTo>
                      <a:pt x="1679329" y="1024975"/>
                      <a:pt x="1650455" y="1053850"/>
                      <a:pt x="1614836" y="1053850"/>
                    </a:cubicBezTo>
                    <a:lnTo>
                      <a:pt x="64494" y="1053850"/>
                    </a:lnTo>
                    <a:cubicBezTo>
                      <a:pt x="28875" y="1053850"/>
                      <a:pt x="0" y="1024975"/>
                      <a:pt x="0" y="989356"/>
                    </a:cubicBezTo>
                    <a:lnTo>
                      <a:pt x="0" y="64494"/>
                    </a:lnTo>
                    <a:cubicBezTo>
                      <a:pt x="0" y="28875"/>
                      <a:pt x="28875" y="0"/>
                      <a:pt x="64494" y="0"/>
                    </a:cubicBezTo>
                    <a:lnTo>
                      <a:pt x="1614836" y="0"/>
                    </a:lnTo>
                    <a:cubicBezTo>
                      <a:pt x="1650455" y="0"/>
                      <a:pt x="1679329" y="28875"/>
                      <a:pt x="1679329" y="64494"/>
                    </a:cubicBezTo>
                    <a:close/>
                  </a:path>
                </a:pathLst>
              </a:custGeom>
              <a:solidFill>
                <a:srgbClr val="FDFDFD">
                  <a:alpha val="62745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679329" cy="1091950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66502" y="1533120"/>
              <a:ext cx="6389339" cy="2134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0734" indent="-200367" lvl="1">
                <a:lnSpc>
                  <a:spcPts val="2598"/>
                </a:lnSpc>
                <a:buFont typeface="Arial"/>
                <a:buChar char="•"/>
              </a:pPr>
              <a:r>
                <a:rPr lang="en-US" b="true" sz="1856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Actualizare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 bază de date pentru nota de bonitare</a:t>
              </a:r>
            </a:p>
            <a:p>
              <a:pPr algn="l" marL="400734" indent="-200367" lvl="1">
                <a:lnSpc>
                  <a:spcPts val="2598"/>
                </a:lnSpc>
                <a:buFont typeface="Arial"/>
                <a:buChar char="•"/>
              </a:pPr>
              <a:r>
                <a:rPr lang="en-US" b="true" sz="1856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Extinderea culturilor 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incluse</a:t>
              </a:r>
            </a:p>
            <a:p>
              <a:pPr algn="l" marL="400734" indent="-200367" lvl="1">
                <a:lnSpc>
                  <a:spcPts val="2598"/>
                </a:lnSpc>
                <a:buFont typeface="Arial"/>
                <a:buChar char="•"/>
              </a:pP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Înregistrarea </a:t>
              </a:r>
              <a:r>
                <a:rPr lang="en-US" b="true" sz="1856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culturilor precedente 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și ajustarea notei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0" y="0"/>
              <a:ext cx="6722343" cy="1377978"/>
              <a:chOff x="0" y="0"/>
              <a:chExt cx="1679329" cy="34423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679329" cy="344234"/>
              </a:xfrm>
              <a:custGeom>
                <a:avLst/>
                <a:gdLst/>
                <a:ahLst/>
                <a:cxnLst/>
                <a:rect r="r" b="b" t="t" l="l"/>
                <a:pathLst>
                  <a:path h="344234" w="1679329">
                    <a:moveTo>
                      <a:pt x="1679329" y="64494"/>
                    </a:moveTo>
                    <a:lnTo>
                      <a:pt x="1679329" y="279740"/>
                    </a:lnTo>
                    <a:cubicBezTo>
                      <a:pt x="1679329" y="315359"/>
                      <a:pt x="1650455" y="344234"/>
                      <a:pt x="1614836" y="344234"/>
                    </a:cubicBezTo>
                    <a:lnTo>
                      <a:pt x="64494" y="344234"/>
                    </a:lnTo>
                    <a:cubicBezTo>
                      <a:pt x="28875" y="344234"/>
                      <a:pt x="0" y="315359"/>
                      <a:pt x="0" y="279740"/>
                    </a:cubicBezTo>
                    <a:lnTo>
                      <a:pt x="0" y="64494"/>
                    </a:lnTo>
                    <a:cubicBezTo>
                      <a:pt x="0" y="28875"/>
                      <a:pt x="28875" y="0"/>
                      <a:pt x="64494" y="0"/>
                    </a:cubicBezTo>
                    <a:lnTo>
                      <a:pt x="1614836" y="0"/>
                    </a:lnTo>
                    <a:cubicBezTo>
                      <a:pt x="1650455" y="0"/>
                      <a:pt x="1679329" y="28875"/>
                      <a:pt x="1679329" y="64494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679329" cy="382334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12263" y="157275"/>
              <a:ext cx="6097817" cy="1036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b="true" sz="2300">
                  <a:solidFill>
                    <a:srgbClr val="00971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Baza de date și nota de bonitare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9797" y="3504692"/>
            <a:ext cx="5041757" cy="2737592"/>
            <a:chOff x="0" y="0"/>
            <a:chExt cx="6722343" cy="3650123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50800"/>
              <a:ext cx="6722343" cy="3599323"/>
              <a:chOff x="0" y="0"/>
              <a:chExt cx="1679329" cy="89915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679329" cy="899150"/>
              </a:xfrm>
              <a:custGeom>
                <a:avLst/>
                <a:gdLst/>
                <a:ahLst/>
                <a:cxnLst/>
                <a:rect r="r" b="b" t="t" l="l"/>
                <a:pathLst>
                  <a:path h="899150" w="1679329">
                    <a:moveTo>
                      <a:pt x="1679329" y="64494"/>
                    </a:moveTo>
                    <a:lnTo>
                      <a:pt x="1679329" y="834656"/>
                    </a:lnTo>
                    <a:cubicBezTo>
                      <a:pt x="1679329" y="870275"/>
                      <a:pt x="1650455" y="899150"/>
                      <a:pt x="1614836" y="899150"/>
                    </a:cubicBezTo>
                    <a:lnTo>
                      <a:pt x="64494" y="899150"/>
                    </a:lnTo>
                    <a:cubicBezTo>
                      <a:pt x="28875" y="899150"/>
                      <a:pt x="0" y="870275"/>
                      <a:pt x="0" y="834656"/>
                    </a:cubicBezTo>
                    <a:lnTo>
                      <a:pt x="0" y="64494"/>
                    </a:lnTo>
                    <a:cubicBezTo>
                      <a:pt x="0" y="28875"/>
                      <a:pt x="28875" y="0"/>
                      <a:pt x="64494" y="0"/>
                    </a:cubicBezTo>
                    <a:lnTo>
                      <a:pt x="1614836" y="0"/>
                    </a:lnTo>
                    <a:cubicBezTo>
                      <a:pt x="1650455" y="0"/>
                      <a:pt x="1679329" y="28875"/>
                      <a:pt x="1679329" y="64494"/>
                    </a:cubicBezTo>
                    <a:close/>
                  </a:path>
                </a:pathLst>
              </a:custGeom>
              <a:solidFill>
                <a:srgbClr val="FDFDFD">
                  <a:alpha val="62745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679329" cy="937250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66502" y="939081"/>
              <a:ext cx="6389339" cy="2465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0734" indent="-200367" lvl="1">
                <a:lnSpc>
                  <a:spcPts val="2598"/>
                </a:lnSpc>
                <a:buFont typeface="Arial"/>
                <a:buChar char="•"/>
              </a:pP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In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tegrare cu </a:t>
              </a:r>
              <a:r>
                <a:rPr lang="en-US" b="true" sz="1856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stații meteo</a:t>
              </a:r>
            </a:p>
            <a:p>
              <a:pPr algn="l" marL="758288" indent="-252763" lvl="2">
                <a:lnSpc>
                  <a:spcPts val="2458"/>
                </a:lnSpc>
                <a:buFont typeface="Arial"/>
                <a:buChar char="⚬"/>
              </a:pPr>
              <a:r>
                <a:rPr lang="en-US" sz="1756" i="true">
                  <a:solidFill>
                    <a:srgbClr val="0E5434"/>
                  </a:solidFill>
                  <a:latin typeface="Gotham Italics"/>
                  <a:ea typeface="Gotham Italics"/>
                  <a:cs typeface="Gotham Italics"/>
                  <a:sym typeface="Gotham Italics"/>
                </a:rPr>
                <a:t>Calcul: </a:t>
              </a:r>
              <a:r>
                <a:rPr lang="en-US" b="true" sz="1756" i="true">
                  <a:solidFill>
                    <a:srgbClr val="0E5434"/>
                  </a:solidFill>
                  <a:latin typeface="Gotham Bold Italics"/>
                  <a:ea typeface="Gotham Bold Italics"/>
                  <a:cs typeface="Gotham Bold Italics"/>
                  <a:sym typeface="Gotham Bold Italics"/>
                </a:rPr>
                <a:t>temperaturi active</a:t>
              </a:r>
              <a:r>
                <a:rPr lang="en-US" sz="1756" i="true">
                  <a:solidFill>
                    <a:srgbClr val="0E5434"/>
                  </a:solidFill>
                  <a:latin typeface="Gotham Italics"/>
                  <a:ea typeface="Gotham Italics"/>
                  <a:cs typeface="Gotham Italics"/>
                  <a:sym typeface="Gotham Italics"/>
                </a:rPr>
                <a:t> </a:t>
              </a:r>
            </a:p>
            <a:p>
              <a:pPr algn="l" marL="758288" indent="-252763" lvl="2">
                <a:lnSpc>
                  <a:spcPts val="2458"/>
                </a:lnSpc>
                <a:buFont typeface="Arial"/>
                <a:buChar char="⚬"/>
              </a:pPr>
              <a:r>
                <a:rPr lang="en-US" sz="1756" i="true">
                  <a:solidFill>
                    <a:srgbClr val="0E5434"/>
                  </a:solidFill>
                  <a:latin typeface="Gotham Italics"/>
                  <a:ea typeface="Gotham Italics"/>
                  <a:cs typeface="Gotham Italics"/>
                  <a:sym typeface="Gotham Italics"/>
                </a:rPr>
                <a:t>Calcul: </a:t>
              </a:r>
              <a:r>
                <a:rPr lang="en-US" b="true" sz="1756" i="true">
                  <a:solidFill>
                    <a:srgbClr val="0E5434"/>
                  </a:solidFill>
                  <a:latin typeface="Gotham Bold Italics"/>
                  <a:ea typeface="Gotham Bold Italics"/>
                  <a:cs typeface="Gotham Bold Italics"/>
                  <a:sym typeface="Gotham Bold Italics"/>
                </a:rPr>
                <a:t>cantități </a:t>
              </a:r>
              <a:r>
                <a:rPr lang="en-US" b="true" sz="1756" i="true">
                  <a:solidFill>
                    <a:srgbClr val="0E5434"/>
                  </a:solidFill>
                  <a:latin typeface="Gotham Bold Italics"/>
                  <a:ea typeface="Gotham Bold Italics"/>
                  <a:cs typeface="Gotham Bold Italics"/>
                  <a:sym typeface="Gotham Bold Italics"/>
                </a:rPr>
                <a:t>precipitații</a:t>
              </a:r>
            </a:p>
            <a:p>
              <a:pPr algn="l" marL="400734" indent="-200367" lvl="1">
                <a:lnSpc>
                  <a:spcPts val="2598"/>
                </a:lnSpc>
                <a:buFont typeface="Arial"/>
                <a:buChar char="•"/>
              </a:pPr>
              <a:r>
                <a:rPr lang="en-US" b="true" sz="1856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Av</a:t>
              </a:r>
              <a:r>
                <a:rPr lang="en-US" b="true" sz="1856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ertizări 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riscuri, de exeplu: </a:t>
              </a:r>
            </a:p>
            <a:p>
              <a:pPr algn="l" marL="758288" indent="-252763" lvl="2">
                <a:lnSpc>
                  <a:spcPts val="2458"/>
                </a:lnSpc>
                <a:buFont typeface="Arial"/>
                <a:buChar char="⚬"/>
              </a:pPr>
              <a:r>
                <a:rPr lang="en-US" sz="1756" i="true">
                  <a:solidFill>
                    <a:srgbClr val="0E5434"/>
                  </a:solidFill>
                  <a:latin typeface="Gotham Italics"/>
                  <a:ea typeface="Gotham Italics"/>
                  <a:cs typeface="Gotham Italics"/>
                  <a:sym typeface="Gotham Italics"/>
                </a:rPr>
                <a:t>boli </a:t>
              </a:r>
            </a:p>
            <a:p>
              <a:pPr algn="l" marL="758288" indent="-252763" lvl="2">
                <a:lnSpc>
                  <a:spcPts val="2458"/>
                </a:lnSpc>
                <a:buFont typeface="Arial"/>
                <a:buChar char="⚬"/>
              </a:pPr>
              <a:r>
                <a:rPr lang="en-US" sz="1756" i="true">
                  <a:solidFill>
                    <a:srgbClr val="0E5434"/>
                  </a:solidFill>
                  <a:latin typeface="Gotham Italics"/>
                  <a:ea typeface="Gotham Italics"/>
                  <a:cs typeface="Gotham Italics"/>
                  <a:sym typeface="Gotham Italics"/>
                </a:rPr>
                <a:t>precocitate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0" y="0"/>
              <a:ext cx="6722343" cy="857264"/>
              <a:chOff x="0" y="0"/>
              <a:chExt cx="1679329" cy="21415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679329" cy="214154"/>
              </a:xfrm>
              <a:custGeom>
                <a:avLst/>
                <a:gdLst/>
                <a:ahLst/>
                <a:cxnLst/>
                <a:rect r="r" b="b" t="t" l="l"/>
                <a:pathLst>
                  <a:path h="214154" w="1679329">
                    <a:moveTo>
                      <a:pt x="1679329" y="64494"/>
                    </a:moveTo>
                    <a:lnTo>
                      <a:pt x="1679329" y="149660"/>
                    </a:lnTo>
                    <a:cubicBezTo>
                      <a:pt x="1679329" y="185279"/>
                      <a:pt x="1650455" y="214154"/>
                      <a:pt x="1614836" y="214154"/>
                    </a:cubicBezTo>
                    <a:lnTo>
                      <a:pt x="64494" y="214154"/>
                    </a:lnTo>
                    <a:cubicBezTo>
                      <a:pt x="28875" y="214154"/>
                      <a:pt x="0" y="185279"/>
                      <a:pt x="0" y="149660"/>
                    </a:cubicBezTo>
                    <a:lnTo>
                      <a:pt x="0" y="64494"/>
                    </a:lnTo>
                    <a:cubicBezTo>
                      <a:pt x="0" y="28875"/>
                      <a:pt x="28875" y="0"/>
                      <a:pt x="64494" y="0"/>
                    </a:cubicBezTo>
                    <a:lnTo>
                      <a:pt x="1614836" y="0"/>
                    </a:lnTo>
                    <a:cubicBezTo>
                      <a:pt x="1650455" y="0"/>
                      <a:pt x="1679329" y="28875"/>
                      <a:pt x="1679329" y="64494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679329" cy="252254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12263" y="153304"/>
              <a:ext cx="6097817" cy="503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 b="true">
                  <a:solidFill>
                    <a:srgbClr val="00971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C</a:t>
              </a:r>
              <a:r>
                <a:rPr lang="en-US" b="true" sz="2300">
                  <a:solidFill>
                    <a:srgbClr val="00971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alcul &amp; Avertizare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51698" y="3504692"/>
            <a:ext cx="5041757" cy="3163944"/>
            <a:chOff x="0" y="0"/>
            <a:chExt cx="6722343" cy="4218593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50800"/>
              <a:ext cx="6722343" cy="4167793"/>
              <a:chOff x="0" y="0"/>
              <a:chExt cx="1679329" cy="104116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679329" cy="1041160"/>
              </a:xfrm>
              <a:custGeom>
                <a:avLst/>
                <a:gdLst/>
                <a:ahLst/>
                <a:cxnLst/>
                <a:rect r="r" b="b" t="t" l="l"/>
                <a:pathLst>
                  <a:path h="1041160" w="1679329">
                    <a:moveTo>
                      <a:pt x="1679329" y="64494"/>
                    </a:moveTo>
                    <a:lnTo>
                      <a:pt x="1679329" y="976666"/>
                    </a:lnTo>
                    <a:cubicBezTo>
                      <a:pt x="1679329" y="1012285"/>
                      <a:pt x="1650455" y="1041160"/>
                      <a:pt x="1614836" y="1041160"/>
                    </a:cubicBezTo>
                    <a:lnTo>
                      <a:pt x="64494" y="1041160"/>
                    </a:lnTo>
                    <a:cubicBezTo>
                      <a:pt x="28875" y="1041160"/>
                      <a:pt x="0" y="1012285"/>
                      <a:pt x="0" y="976666"/>
                    </a:cubicBezTo>
                    <a:lnTo>
                      <a:pt x="0" y="64494"/>
                    </a:lnTo>
                    <a:cubicBezTo>
                      <a:pt x="0" y="28875"/>
                      <a:pt x="28875" y="0"/>
                      <a:pt x="64494" y="0"/>
                    </a:cubicBezTo>
                    <a:lnTo>
                      <a:pt x="1614836" y="0"/>
                    </a:lnTo>
                    <a:cubicBezTo>
                      <a:pt x="1650455" y="0"/>
                      <a:pt x="1679329" y="28875"/>
                      <a:pt x="1679329" y="64494"/>
                    </a:cubicBezTo>
                    <a:close/>
                  </a:path>
                </a:pathLst>
              </a:custGeom>
              <a:solidFill>
                <a:srgbClr val="FDFDFD">
                  <a:alpha val="62745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679329" cy="1079260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66502" y="989881"/>
              <a:ext cx="6389339" cy="29981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0734" indent="-200367" lvl="1">
                <a:lnSpc>
                  <a:spcPts val="2598"/>
                </a:lnSpc>
                <a:buFont typeface="Arial"/>
                <a:buChar char="•"/>
              </a:pPr>
              <a:r>
                <a:rPr lang="en-US" b="true" sz="1856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Solu</a:t>
              </a:r>
              <a:r>
                <a:rPr lang="en-US" b="true" sz="1856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ri.md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 – d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ate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 s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o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l + r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e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co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ma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ndă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ri c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ul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t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ur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</a:t>
              </a:r>
            </a:p>
            <a:p>
              <a:pPr algn="l" marL="400734" indent="-200367" lvl="1">
                <a:lnSpc>
                  <a:spcPts val="2598"/>
                </a:lnSpc>
                <a:buFont typeface="Arial"/>
                <a:buChar char="•"/>
              </a:pPr>
              <a:r>
                <a:rPr lang="en-US" b="true" sz="1856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E-Cadastru 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– ide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nti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ficare 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t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erenur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 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valo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r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oas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e</a:t>
              </a:r>
            </a:p>
            <a:p>
              <a:pPr algn="l" marL="400734" indent="-200367" lvl="1">
                <a:lnSpc>
                  <a:spcPts val="2598"/>
                </a:lnSpc>
                <a:buFont typeface="Arial"/>
                <a:buChar char="•"/>
              </a:pP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Date d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n </a:t>
              </a:r>
              <a:r>
                <a:rPr lang="en-US" b="true" sz="1856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laboratoare de sol</a:t>
              </a:r>
            </a:p>
            <a:p>
              <a:pPr algn="l" marL="400734" indent="-200367" lvl="1">
                <a:lnSpc>
                  <a:spcPts val="2598"/>
                </a:lnSpc>
                <a:buFont typeface="Arial"/>
                <a:buChar char="•"/>
              </a:pP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Info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r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maț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ii </a:t>
              </a:r>
              <a:r>
                <a:rPr lang="en-US" b="true" sz="1856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infrastructură agricolă 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(</a:t>
              </a:r>
              <a:r>
                <a:rPr lang="en-US" sz="1856" i="true">
                  <a:solidFill>
                    <a:srgbClr val="0E5434"/>
                  </a:solidFill>
                  <a:latin typeface="Gotham Italics"/>
                  <a:ea typeface="Gotham Italics"/>
                  <a:cs typeface="Gotham Italics"/>
                  <a:sym typeface="Gotham Italics"/>
                </a:rPr>
                <a:t>ex.: sisteme de irigare centralizată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)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0" y="0"/>
              <a:ext cx="6722343" cy="908064"/>
              <a:chOff x="0" y="0"/>
              <a:chExt cx="1679329" cy="22684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679329" cy="226844"/>
              </a:xfrm>
              <a:custGeom>
                <a:avLst/>
                <a:gdLst/>
                <a:ahLst/>
                <a:cxnLst/>
                <a:rect r="r" b="b" t="t" l="l"/>
                <a:pathLst>
                  <a:path h="226844" w="1679329">
                    <a:moveTo>
                      <a:pt x="1679329" y="64494"/>
                    </a:moveTo>
                    <a:lnTo>
                      <a:pt x="1679329" y="162351"/>
                    </a:lnTo>
                    <a:cubicBezTo>
                      <a:pt x="1679329" y="197970"/>
                      <a:pt x="1650455" y="226844"/>
                      <a:pt x="1614836" y="226844"/>
                    </a:cubicBezTo>
                    <a:lnTo>
                      <a:pt x="64494" y="226844"/>
                    </a:lnTo>
                    <a:cubicBezTo>
                      <a:pt x="28875" y="226844"/>
                      <a:pt x="0" y="197970"/>
                      <a:pt x="0" y="162351"/>
                    </a:cubicBezTo>
                    <a:lnTo>
                      <a:pt x="0" y="64494"/>
                    </a:lnTo>
                    <a:cubicBezTo>
                      <a:pt x="0" y="28875"/>
                      <a:pt x="28875" y="0"/>
                      <a:pt x="64494" y="0"/>
                    </a:cubicBezTo>
                    <a:lnTo>
                      <a:pt x="1614836" y="0"/>
                    </a:lnTo>
                    <a:cubicBezTo>
                      <a:pt x="1650455" y="0"/>
                      <a:pt x="1679329" y="28875"/>
                      <a:pt x="1679329" y="64494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679329" cy="264944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12263" y="204104"/>
              <a:ext cx="6097817" cy="503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 b="true">
                  <a:solidFill>
                    <a:srgbClr val="00971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Integr</a:t>
              </a:r>
              <a:r>
                <a:rPr lang="en-US" b="true" sz="2300">
                  <a:solidFill>
                    <a:srgbClr val="00971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are cu Servicii Externe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89229" y="6925811"/>
            <a:ext cx="10404225" cy="3096427"/>
            <a:chOff x="0" y="0"/>
            <a:chExt cx="13872300" cy="4128569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3872300" cy="4128569"/>
              <a:chOff x="0" y="0"/>
              <a:chExt cx="3465483" cy="1031361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465483" cy="1031361"/>
              </a:xfrm>
              <a:custGeom>
                <a:avLst/>
                <a:gdLst/>
                <a:ahLst/>
                <a:cxnLst/>
                <a:rect r="r" b="b" t="t" l="l"/>
                <a:pathLst>
                  <a:path h="1031361" w="3465483">
                    <a:moveTo>
                      <a:pt x="3465483" y="31253"/>
                    </a:moveTo>
                    <a:lnTo>
                      <a:pt x="3465483" y="1000108"/>
                    </a:lnTo>
                    <a:cubicBezTo>
                      <a:pt x="3465483" y="1017369"/>
                      <a:pt x="3451490" y="1031361"/>
                      <a:pt x="3434230" y="1031361"/>
                    </a:cubicBezTo>
                    <a:lnTo>
                      <a:pt x="31253" y="1031361"/>
                    </a:lnTo>
                    <a:cubicBezTo>
                      <a:pt x="13992" y="1031361"/>
                      <a:pt x="0" y="1017369"/>
                      <a:pt x="0" y="1000108"/>
                    </a:cubicBezTo>
                    <a:lnTo>
                      <a:pt x="0" y="31253"/>
                    </a:lnTo>
                    <a:cubicBezTo>
                      <a:pt x="0" y="13992"/>
                      <a:pt x="13992" y="0"/>
                      <a:pt x="31253" y="0"/>
                    </a:cubicBezTo>
                    <a:lnTo>
                      <a:pt x="3434230" y="0"/>
                    </a:lnTo>
                    <a:cubicBezTo>
                      <a:pt x="3442519" y="0"/>
                      <a:pt x="3450468" y="3293"/>
                      <a:pt x="3456329" y="9154"/>
                    </a:cubicBezTo>
                    <a:cubicBezTo>
                      <a:pt x="3462190" y="15015"/>
                      <a:pt x="3465483" y="22964"/>
                      <a:pt x="3465483" y="31253"/>
                    </a:cubicBezTo>
                    <a:close/>
                  </a:path>
                </a:pathLst>
              </a:custGeom>
              <a:solidFill>
                <a:srgbClr val="FDFDFD">
                  <a:alpha val="62745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3465483" cy="1069461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275823" y="1088402"/>
              <a:ext cx="13385886" cy="20850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0734" indent="-200367" lvl="1">
                <a:lnSpc>
                  <a:spcPts val="2598"/>
                </a:lnSpc>
                <a:buFont typeface="Arial"/>
                <a:buChar char="•"/>
              </a:pP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Cre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area </a:t>
              </a:r>
              <a:r>
                <a:rPr lang="en-US" b="true" sz="1856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hărților tehnologice 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(</a:t>
              </a:r>
              <a:r>
                <a:rPr lang="en-US" sz="1856" i="true">
                  <a:solidFill>
                    <a:srgbClr val="0E5434"/>
                  </a:solidFill>
                  <a:latin typeface="Gotham Italics"/>
                  <a:ea typeface="Gotham Italics"/>
                  <a:cs typeface="Gotham Italics"/>
                  <a:sym typeface="Gotham Italics"/>
                </a:rPr>
                <a:t>toate lucrările necesare unei culturi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)</a:t>
              </a:r>
            </a:p>
            <a:p>
              <a:pPr algn="l" marL="400734" indent="-200367" lvl="1">
                <a:lnSpc>
                  <a:spcPts val="2598"/>
                </a:lnSpc>
                <a:buFont typeface="Arial"/>
                <a:buChar char="•"/>
              </a:pPr>
              <a:r>
                <a:rPr lang="en-US" b="true" sz="1856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Actualizare 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hărților tehnologice în </a:t>
              </a:r>
              <a:r>
                <a:rPr lang="en-US" b="true" sz="1856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funcție de meteo</a:t>
              </a:r>
            </a:p>
            <a:p>
              <a:pPr algn="l" marL="400734" indent="-200367" lvl="1">
                <a:lnSpc>
                  <a:spcPts val="2598"/>
                </a:lnSpc>
                <a:buFont typeface="Arial"/>
                <a:buChar char="•"/>
              </a:pPr>
              <a:r>
                <a:rPr lang="en-US" b="true" sz="1856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Monitorizare 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eficienții economice și ecologice</a:t>
              </a:r>
            </a:p>
            <a:p>
              <a:pPr algn="l" marL="758288" indent="-252763" lvl="2">
                <a:lnSpc>
                  <a:spcPts val="2458"/>
                </a:lnSpc>
                <a:buFont typeface="Arial"/>
                <a:buChar char="⚬"/>
              </a:pPr>
              <a:r>
                <a:rPr lang="en-US" sz="1756" i="true">
                  <a:solidFill>
                    <a:srgbClr val="0E5434"/>
                  </a:solidFill>
                  <a:latin typeface="Gotham Italics"/>
                  <a:ea typeface="Gotham Italics"/>
                  <a:cs typeface="Gotham Italics"/>
                  <a:sym typeface="Gotham Italics"/>
                </a:rPr>
                <a:t>Sechestrare carbon</a:t>
              </a:r>
            </a:p>
            <a:p>
              <a:pPr algn="l" marL="758288" indent="-252763" lvl="2">
                <a:lnSpc>
                  <a:spcPts val="2458"/>
                </a:lnSpc>
                <a:buFont typeface="Arial"/>
                <a:buChar char="⚬"/>
              </a:pPr>
              <a:r>
                <a:rPr lang="en-US" sz="1756" i="true">
                  <a:solidFill>
                    <a:srgbClr val="0E5434"/>
                  </a:solidFill>
                  <a:latin typeface="Gotham Italics"/>
                  <a:ea typeface="Gotham Italics"/>
                  <a:cs typeface="Gotham Italics"/>
                  <a:sym typeface="Gotham Italics"/>
                </a:rPr>
                <a:t>Amprentă de carbon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0" y="0"/>
              <a:ext cx="13872300" cy="838661"/>
              <a:chOff x="0" y="0"/>
              <a:chExt cx="3465483" cy="20950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3465483" cy="209507"/>
              </a:xfrm>
              <a:custGeom>
                <a:avLst/>
                <a:gdLst/>
                <a:ahLst/>
                <a:cxnLst/>
                <a:rect r="r" b="b" t="t" l="l"/>
                <a:pathLst>
                  <a:path h="209507" w="3465483">
                    <a:moveTo>
                      <a:pt x="3465483" y="31253"/>
                    </a:moveTo>
                    <a:lnTo>
                      <a:pt x="3465483" y="178254"/>
                    </a:lnTo>
                    <a:cubicBezTo>
                      <a:pt x="3465483" y="195514"/>
                      <a:pt x="3451490" y="209507"/>
                      <a:pt x="3434230" y="209507"/>
                    </a:cubicBezTo>
                    <a:lnTo>
                      <a:pt x="31253" y="209507"/>
                    </a:lnTo>
                    <a:cubicBezTo>
                      <a:pt x="22964" y="209507"/>
                      <a:pt x="15015" y="206214"/>
                      <a:pt x="9154" y="200353"/>
                    </a:cubicBezTo>
                    <a:cubicBezTo>
                      <a:pt x="3293" y="194492"/>
                      <a:pt x="0" y="186543"/>
                      <a:pt x="0" y="178254"/>
                    </a:cubicBezTo>
                    <a:lnTo>
                      <a:pt x="0" y="31253"/>
                    </a:lnTo>
                    <a:cubicBezTo>
                      <a:pt x="0" y="13992"/>
                      <a:pt x="13992" y="0"/>
                      <a:pt x="31253" y="0"/>
                    </a:cubicBezTo>
                    <a:lnTo>
                      <a:pt x="3434230" y="0"/>
                    </a:lnTo>
                    <a:cubicBezTo>
                      <a:pt x="3442519" y="0"/>
                      <a:pt x="3450468" y="3293"/>
                      <a:pt x="3456329" y="9154"/>
                    </a:cubicBezTo>
                    <a:cubicBezTo>
                      <a:pt x="3462190" y="15015"/>
                      <a:pt x="3465483" y="22964"/>
                      <a:pt x="3465483" y="31253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3465483" cy="247607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348703" y="144002"/>
              <a:ext cx="13313005" cy="503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 b="true">
                  <a:solidFill>
                    <a:srgbClr val="00971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Hărți</a:t>
              </a:r>
              <a:r>
                <a:rPr lang="en-US" b="true" sz="2300">
                  <a:solidFill>
                    <a:srgbClr val="00971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 Tehnologice &amp; Impact Ecologic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99797" y="6409069"/>
            <a:ext cx="5070660" cy="3613169"/>
            <a:chOff x="0" y="0"/>
            <a:chExt cx="6760880" cy="4817558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120520"/>
              <a:ext cx="6722343" cy="4697039"/>
              <a:chOff x="0" y="0"/>
              <a:chExt cx="1679329" cy="1173371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679329" cy="1173371"/>
              </a:xfrm>
              <a:custGeom>
                <a:avLst/>
                <a:gdLst/>
                <a:ahLst/>
                <a:cxnLst/>
                <a:rect r="r" b="b" t="t" l="l"/>
                <a:pathLst>
                  <a:path h="1173371" w="1679329">
                    <a:moveTo>
                      <a:pt x="1679329" y="64494"/>
                    </a:moveTo>
                    <a:lnTo>
                      <a:pt x="1679329" y="1108877"/>
                    </a:lnTo>
                    <a:cubicBezTo>
                      <a:pt x="1679329" y="1144496"/>
                      <a:pt x="1650455" y="1173371"/>
                      <a:pt x="1614836" y="1173371"/>
                    </a:cubicBezTo>
                    <a:lnTo>
                      <a:pt x="64494" y="1173371"/>
                    </a:lnTo>
                    <a:cubicBezTo>
                      <a:pt x="28875" y="1173371"/>
                      <a:pt x="0" y="1144496"/>
                      <a:pt x="0" y="1108877"/>
                    </a:cubicBezTo>
                    <a:lnTo>
                      <a:pt x="0" y="64494"/>
                    </a:lnTo>
                    <a:cubicBezTo>
                      <a:pt x="0" y="28875"/>
                      <a:pt x="28875" y="0"/>
                      <a:pt x="64494" y="0"/>
                    </a:cubicBezTo>
                    <a:lnTo>
                      <a:pt x="1614836" y="0"/>
                    </a:lnTo>
                    <a:cubicBezTo>
                      <a:pt x="1650455" y="0"/>
                      <a:pt x="1679329" y="28875"/>
                      <a:pt x="1679329" y="64494"/>
                    </a:cubicBezTo>
                    <a:close/>
                  </a:path>
                </a:pathLst>
              </a:custGeom>
              <a:solidFill>
                <a:srgbClr val="FDFDFD">
                  <a:alpha val="62745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1679329" cy="1211471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205039" y="1568478"/>
              <a:ext cx="6389339" cy="25663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0734" indent="-200367" lvl="1">
                <a:lnSpc>
                  <a:spcPts val="2598"/>
                </a:lnSpc>
                <a:buFont typeface="Arial"/>
                <a:buChar char="•"/>
              </a:pPr>
              <a:r>
                <a:rPr lang="en-US" b="true" sz="1856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Facilitatea colectării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 și</a:t>
              </a:r>
              <a:r>
                <a:rPr lang="en-US" b="true" sz="1856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 analiza datelor 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priving gestionarea datelor despre ambalaje fitosanitare</a:t>
              </a:r>
            </a:p>
            <a:p>
              <a:pPr algn="l" marL="400734" indent="-200367" lvl="1">
                <a:lnSpc>
                  <a:spcPts val="2598"/>
                </a:lnSpc>
                <a:buFont typeface="Arial"/>
                <a:buChar char="•"/>
              </a:pP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Es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timarea </a:t>
              </a:r>
              <a:r>
                <a:rPr lang="en-US" b="true" sz="1856">
                  <a:solidFill>
                    <a:srgbClr val="0E5434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nivelului de poluare </a:t>
              </a:r>
              <a:r>
                <a:rPr lang="en-US" sz="18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în funcție de cantitatea de ambalaje predate</a:t>
              </a:r>
            </a:p>
          </p:txBody>
        </p:sp>
        <p:grpSp>
          <p:nvGrpSpPr>
            <p:cNvPr name="Group 49" id="49"/>
            <p:cNvGrpSpPr/>
            <p:nvPr/>
          </p:nvGrpSpPr>
          <p:grpSpPr>
            <a:xfrm rot="0">
              <a:off x="38537" y="0"/>
              <a:ext cx="6722343" cy="1377978"/>
              <a:chOff x="0" y="0"/>
              <a:chExt cx="1679329" cy="344234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679329" cy="344234"/>
              </a:xfrm>
              <a:custGeom>
                <a:avLst/>
                <a:gdLst/>
                <a:ahLst/>
                <a:cxnLst/>
                <a:rect r="r" b="b" t="t" l="l"/>
                <a:pathLst>
                  <a:path h="344234" w="1679329">
                    <a:moveTo>
                      <a:pt x="1679329" y="64494"/>
                    </a:moveTo>
                    <a:lnTo>
                      <a:pt x="1679329" y="279740"/>
                    </a:lnTo>
                    <a:cubicBezTo>
                      <a:pt x="1679329" y="315359"/>
                      <a:pt x="1650455" y="344234"/>
                      <a:pt x="1614836" y="344234"/>
                    </a:cubicBezTo>
                    <a:lnTo>
                      <a:pt x="64494" y="344234"/>
                    </a:lnTo>
                    <a:cubicBezTo>
                      <a:pt x="28875" y="344234"/>
                      <a:pt x="0" y="315359"/>
                      <a:pt x="0" y="279740"/>
                    </a:cubicBezTo>
                    <a:lnTo>
                      <a:pt x="0" y="64494"/>
                    </a:lnTo>
                    <a:cubicBezTo>
                      <a:pt x="0" y="28875"/>
                      <a:pt x="28875" y="0"/>
                      <a:pt x="64494" y="0"/>
                    </a:cubicBezTo>
                    <a:lnTo>
                      <a:pt x="1614836" y="0"/>
                    </a:lnTo>
                    <a:cubicBezTo>
                      <a:pt x="1650455" y="0"/>
                      <a:pt x="1679329" y="28875"/>
                      <a:pt x="1679329" y="64494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1679329" cy="382334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350800" y="157275"/>
              <a:ext cx="6097817" cy="1036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 b="true">
                  <a:solidFill>
                    <a:srgbClr val="00971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Respons</a:t>
              </a:r>
              <a:r>
                <a:rPr lang="en-US" b="true" sz="2300">
                  <a:solidFill>
                    <a:srgbClr val="00971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abilitate Extinsă a Producătorului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873934">
            <a:off x="853290" y="9258231"/>
            <a:ext cx="652150" cy="764075"/>
          </a:xfrm>
          <a:custGeom>
            <a:avLst/>
            <a:gdLst/>
            <a:ahLst/>
            <a:cxnLst/>
            <a:rect r="r" b="b" t="t" l="l"/>
            <a:pathLst>
              <a:path h="764075" w="652150">
                <a:moveTo>
                  <a:pt x="0" y="0"/>
                </a:moveTo>
                <a:lnTo>
                  <a:pt x="652150" y="0"/>
                </a:lnTo>
                <a:lnTo>
                  <a:pt x="652150" y="764076"/>
                </a:lnTo>
                <a:lnTo>
                  <a:pt x="0" y="7640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5190153" y="2898369"/>
            <a:ext cx="1304639" cy="625802"/>
          </a:xfrm>
          <a:custGeom>
            <a:avLst/>
            <a:gdLst/>
            <a:ahLst/>
            <a:cxnLst/>
            <a:rect r="r" b="b" t="t" l="l"/>
            <a:pathLst>
              <a:path h="625802" w="1304639">
                <a:moveTo>
                  <a:pt x="0" y="0"/>
                </a:moveTo>
                <a:lnTo>
                  <a:pt x="1304638" y="0"/>
                </a:lnTo>
                <a:lnTo>
                  <a:pt x="1304638" y="625802"/>
                </a:lnTo>
                <a:lnTo>
                  <a:pt x="0" y="625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0650826" y="6409069"/>
            <a:ext cx="265796" cy="259567"/>
          </a:xfrm>
          <a:custGeom>
            <a:avLst/>
            <a:gdLst/>
            <a:ahLst/>
            <a:cxnLst/>
            <a:rect r="r" b="b" t="t" l="l"/>
            <a:pathLst>
              <a:path h="259567" w="265796">
                <a:moveTo>
                  <a:pt x="0" y="0"/>
                </a:moveTo>
                <a:lnTo>
                  <a:pt x="265797" y="0"/>
                </a:lnTo>
                <a:lnTo>
                  <a:pt x="265797" y="259567"/>
                </a:lnTo>
                <a:lnTo>
                  <a:pt x="0" y="2595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4597285" y="9415915"/>
            <a:ext cx="440855" cy="606323"/>
          </a:xfrm>
          <a:custGeom>
            <a:avLst/>
            <a:gdLst/>
            <a:ahLst/>
            <a:cxnLst/>
            <a:rect r="r" b="b" t="t" l="l"/>
            <a:pathLst>
              <a:path h="606323" w="440855">
                <a:moveTo>
                  <a:pt x="0" y="0"/>
                </a:moveTo>
                <a:lnTo>
                  <a:pt x="440855" y="0"/>
                </a:lnTo>
                <a:lnTo>
                  <a:pt x="440855" y="606323"/>
                </a:lnTo>
                <a:lnTo>
                  <a:pt x="0" y="6063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5185207" y="9258300"/>
            <a:ext cx="447183" cy="763938"/>
          </a:xfrm>
          <a:custGeom>
            <a:avLst/>
            <a:gdLst/>
            <a:ahLst/>
            <a:cxnLst/>
            <a:rect r="r" b="b" t="t" l="l"/>
            <a:pathLst>
              <a:path h="763938" w="447183">
                <a:moveTo>
                  <a:pt x="0" y="0"/>
                </a:moveTo>
                <a:lnTo>
                  <a:pt x="447183" y="0"/>
                </a:lnTo>
                <a:lnTo>
                  <a:pt x="447183" y="763938"/>
                </a:lnTo>
                <a:lnTo>
                  <a:pt x="0" y="7639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666702">
            <a:off x="5523601" y="5273489"/>
            <a:ext cx="771194" cy="714765"/>
          </a:xfrm>
          <a:custGeom>
            <a:avLst/>
            <a:gdLst/>
            <a:ahLst/>
            <a:cxnLst/>
            <a:rect r="r" b="b" t="t" l="l"/>
            <a:pathLst>
              <a:path h="714765" w="771194">
                <a:moveTo>
                  <a:pt x="0" y="0"/>
                </a:moveTo>
                <a:lnTo>
                  <a:pt x="771194" y="0"/>
                </a:lnTo>
                <a:lnTo>
                  <a:pt x="771194" y="714765"/>
                </a:lnTo>
                <a:lnTo>
                  <a:pt x="0" y="71476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805792" y="4299834"/>
            <a:ext cx="445815" cy="888228"/>
          </a:xfrm>
          <a:custGeom>
            <a:avLst/>
            <a:gdLst/>
            <a:ahLst/>
            <a:cxnLst/>
            <a:rect r="r" b="b" t="t" l="l"/>
            <a:pathLst>
              <a:path h="888228" w="445815">
                <a:moveTo>
                  <a:pt x="0" y="0"/>
                </a:moveTo>
                <a:lnTo>
                  <a:pt x="445816" y="0"/>
                </a:lnTo>
                <a:lnTo>
                  <a:pt x="445816" y="888228"/>
                </a:lnTo>
                <a:lnTo>
                  <a:pt x="0" y="88822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1028700" y="2510717"/>
            <a:ext cx="11201924" cy="68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7"/>
              </a:lnSpc>
            </a:pPr>
            <a:r>
              <a:rPr lang="en-US" sz="605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Perspective de viitor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536152" y="1068233"/>
            <a:ext cx="4492906" cy="5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3"/>
              </a:lnSpc>
              <a:spcBef>
                <a:spcPct val="0"/>
              </a:spcBef>
            </a:pPr>
            <a:r>
              <a:rPr lang="en-US" b="true" sz="296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ARéc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15437312" y="9004122"/>
            <a:ext cx="1456142" cy="1018116"/>
          </a:xfrm>
          <a:custGeom>
            <a:avLst/>
            <a:gdLst/>
            <a:ahLst/>
            <a:cxnLst/>
            <a:rect r="r" b="b" t="t" l="l"/>
            <a:pathLst>
              <a:path h="1018116" w="1456142">
                <a:moveTo>
                  <a:pt x="0" y="0"/>
                </a:moveTo>
                <a:lnTo>
                  <a:pt x="1456143" y="0"/>
                </a:lnTo>
                <a:lnTo>
                  <a:pt x="1456143" y="1018116"/>
                </a:lnTo>
                <a:lnTo>
                  <a:pt x="0" y="101811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4887222" y="9513180"/>
            <a:ext cx="297985" cy="509058"/>
          </a:xfrm>
          <a:custGeom>
            <a:avLst/>
            <a:gdLst/>
            <a:ahLst/>
            <a:cxnLst/>
            <a:rect r="r" b="b" t="t" l="l"/>
            <a:pathLst>
              <a:path h="509058" w="297985">
                <a:moveTo>
                  <a:pt x="0" y="0"/>
                </a:moveTo>
                <a:lnTo>
                  <a:pt x="297985" y="0"/>
                </a:lnTo>
                <a:lnTo>
                  <a:pt x="297985" y="509058"/>
                </a:lnTo>
                <a:lnTo>
                  <a:pt x="0" y="5090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7324241" y="9601564"/>
            <a:ext cx="430771" cy="420674"/>
          </a:xfrm>
          <a:custGeom>
            <a:avLst/>
            <a:gdLst/>
            <a:ahLst/>
            <a:cxnLst/>
            <a:rect r="r" b="b" t="t" l="l"/>
            <a:pathLst>
              <a:path h="420674" w="430771">
                <a:moveTo>
                  <a:pt x="0" y="0"/>
                </a:moveTo>
                <a:lnTo>
                  <a:pt x="430771" y="0"/>
                </a:lnTo>
                <a:lnTo>
                  <a:pt x="430771" y="420674"/>
                </a:lnTo>
                <a:lnTo>
                  <a:pt x="0" y="4206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7670555" y="9697915"/>
            <a:ext cx="332107" cy="324323"/>
          </a:xfrm>
          <a:custGeom>
            <a:avLst/>
            <a:gdLst/>
            <a:ahLst/>
            <a:cxnLst/>
            <a:rect r="r" b="b" t="t" l="l"/>
            <a:pathLst>
              <a:path h="324323" w="332107">
                <a:moveTo>
                  <a:pt x="0" y="0"/>
                </a:moveTo>
                <a:lnTo>
                  <a:pt x="332107" y="0"/>
                </a:lnTo>
                <a:lnTo>
                  <a:pt x="332107" y="324323"/>
                </a:lnTo>
                <a:lnTo>
                  <a:pt x="0" y="324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5019788" y="9697915"/>
            <a:ext cx="332107" cy="324323"/>
          </a:xfrm>
          <a:custGeom>
            <a:avLst/>
            <a:gdLst/>
            <a:ahLst/>
            <a:cxnLst/>
            <a:rect r="r" b="b" t="t" l="l"/>
            <a:pathLst>
              <a:path h="324323" w="332107">
                <a:moveTo>
                  <a:pt x="0" y="0"/>
                </a:moveTo>
                <a:lnTo>
                  <a:pt x="332106" y="0"/>
                </a:lnTo>
                <a:lnTo>
                  <a:pt x="332106" y="324323"/>
                </a:lnTo>
                <a:lnTo>
                  <a:pt x="0" y="324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-2422313">
            <a:off x="10970636" y="6180034"/>
            <a:ext cx="510588" cy="458071"/>
            <a:chOff x="0" y="0"/>
            <a:chExt cx="680784" cy="610761"/>
          </a:xfrm>
        </p:grpSpPr>
        <p:sp>
          <p:nvSpPr>
            <p:cNvPr name="Freeform 68" id="68"/>
            <p:cNvSpPr/>
            <p:nvPr/>
          </p:nvSpPr>
          <p:spPr>
            <a:xfrm flipH="false" flipV="false" rot="-1567680">
              <a:off x="72674" y="224168"/>
              <a:ext cx="166687" cy="368731"/>
            </a:xfrm>
            <a:custGeom>
              <a:avLst/>
              <a:gdLst/>
              <a:ahLst/>
              <a:cxnLst/>
              <a:rect r="r" b="b" t="t" l="l"/>
              <a:pathLst>
                <a:path h="368731" w="166687">
                  <a:moveTo>
                    <a:pt x="0" y="0"/>
                  </a:moveTo>
                  <a:lnTo>
                    <a:pt x="166686" y="0"/>
                  </a:lnTo>
                  <a:lnTo>
                    <a:pt x="166686" y="368731"/>
                  </a:lnTo>
                  <a:lnTo>
                    <a:pt x="0" y="368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210630" y="0"/>
              <a:ext cx="259573" cy="574207"/>
            </a:xfrm>
            <a:custGeom>
              <a:avLst/>
              <a:gdLst/>
              <a:ahLst/>
              <a:cxnLst/>
              <a:rect r="r" b="b" t="t" l="l"/>
              <a:pathLst>
                <a:path h="574207" w="259573">
                  <a:moveTo>
                    <a:pt x="0" y="0"/>
                  </a:moveTo>
                  <a:lnTo>
                    <a:pt x="259573" y="0"/>
                  </a:lnTo>
                  <a:lnTo>
                    <a:pt x="259573" y="574207"/>
                  </a:lnTo>
                  <a:lnTo>
                    <a:pt x="0" y="574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0" id="70"/>
            <p:cNvSpPr/>
            <p:nvPr/>
          </p:nvSpPr>
          <p:spPr>
            <a:xfrm flipH="false" flipV="false" rot="1587832">
              <a:off x="440672" y="224209"/>
              <a:ext cx="166687" cy="368731"/>
            </a:xfrm>
            <a:custGeom>
              <a:avLst/>
              <a:gdLst/>
              <a:ahLst/>
              <a:cxnLst/>
              <a:rect r="r" b="b" t="t" l="l"/>
              <a:pathLst>
                <a:path h="368731" w="166687">
                  <a:moveTo>
                    <a:pt x="0" y="0"/>
                  </a:moveTo>
                  <a:lnTo>
                    <a:pt x="166686" y="0"/>
                  </a:lnTo>
                  <a:lnTo>
                    <a:pt x="166686" y="368730"/>
                  </a:lnTo>
                  <a:lnTo>
                    <a:pt x="0" y="368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700" y="-422039"/>
            <a:ext cx="19531776" cy="11411100"/>
          </a:xfrm>
          <a:custGeom>
            <a:avLst/>
            <a:gdLst/>
            <a:ahLst/>
            <a:cxnLst/>
            <a:rect r="r" b="b" t="t" l="l"/>
            <a:pathLst>
              <a:path h="11411100" w="19531776">
                <a:moveTo>
                  <a:pt x="0" y="0"/>
                </a:moveTo>
                <a:lnTo>
                  <a:pt x="19531776" y="0"/>
                </a:lnTo>
                <a:lnTo>
                  <a:pt x="19531776" y="11411100"/>
                </a:lnTo>
                <a:lnTo>
                  <a:pt x="0" y="11411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532" r="0" b="-550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D9B44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1312562" cy="593548"/>
          </a:xfrm>
          <a:custGeom>
            <a:avLst/>
            <a:gdLst/>
            <a:ahLst/>
            <a:cxnLst/>
            <a:rect r="r" b="b" t="t" l="l"/>
            <a:pathLst>
              <a:path h="593548" w="1312562">
                <a:moveTo>
                  <a:pt x="0" y="0"/>
                </a:moveTo>
                <a:lnTo>
                  <a:pt x="1312562" y="0"/>
                </a:lnTo>
                <a:lnTo>
                  <a:pt x="1312562" y="593548"/>
                </a:lnTo>
                <a:lnTo>
                  <a:pt x="0" y="593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251882" y="3546956"/>
            <a:ext cx="9007418" cy="5252936"/>
            <a:chOff x="0" y="0"/>
            <a:chExt cx="12009891" cy="700391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6090891" y="0"/>
              <a:ext cx="5919001" cy="3612325"/>
              <a:chOff x="0" y="0"/>
              <a:chExt cx="1478644" cy="90239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478644" cy="902398"/>
              </a:xfrm>
              <a:custGeom>
                <a:avLst/>
                <a:gdLst/>
                <a:ahLst/>
                <a:cxnLst/>
                <a:rect r="r" b="b" t="t" l="l"/>
                <a:pathLst>
                  <a:path h="902398" w="1478644">
                    <a:moveTo>
                      <a:pt x="1478644" y="73247"/>
                    </a:moveTo>
                    <a:lnTo>
                      <a:pt x="1478644" y="829151"/>
                    </a:lnTo>
                    <a:cubicBezTo>
                      <a:pt x="1478644" y="848577"/>
                      <a:pt x="1470927" y="867208"/>
                      <a:pt x="1457191" y="880944"/>
                    </a:cubicBezTo>
                    <a:cubicBezTo>
                      <a:pt x="1443454" y="894681"/>
                      <a:pt x="1424824" y="902398"/>
                      <a:pt x="1405397" y="902398"/>
                    </a:cubicBezTo>
                    <a:lnTo>
                      <a:pt x="73247" y="902398"/>
                    </a:lnTo>
                    <a:cubicBezTo>
                      <a:pt x="53820" y="902398"/>
                      <a:pt x="35190" y="894681"/>
                      <a:pt x="21453" y="880944"/>
                    </a:cubicBezTo>
                    <a:cubicBezTo>
                      <a:pt x="7717" y="867208"/>
                      <a:pt x="0" y="848577"/>
                      <a:pt x="0" y="829151"/>
                    </a:cubicBezTo>
                    <a:lnTo>
                      <a:pt x="0" y="73247"/>
                    </a:lnTo>
                    <a:cubicBezTo>
                      <a:pt x="0" y="53820"/>
                      <a:pt x="7717" y="35190"/>
                      <a:pt x="21453" y="21453"/>
                    </a:cubicBezTo>
                    <a:cubicBezTo>
                      <a:pt x="35190" y="7717"/>
                      <a:pt x="53820" y="0"/>
                      <a:pt x="73247" y="0"/>
                    </a:cubicBezTo>
                    <a:lnTo>
                      <a:pt x="1405397" y="0"/>
                    </a:lnTo>
                    <a:cubicBezTo>
                      <a:pt x="1424824" y="0"/>
                      <a:pt x="1443454" y="7717"/>
                      <a:pt x="1457191" y="21453"/>
                    </a:cubicBezTo>
                    <a:cubicBezTo>
                      <a:pt x="1470927" y="35190"/>
                      <a:pt x="1478644" y="53820"/>
                      <a:pt x="1478644" y="73247"/>
                    </a:cubicBezTo>
                    <a:close/>
                  </a:path>
                </a:pathLst>
              </a:custGeom>
              <a:solidFill>
                <a:srgbClr val="FDFDFD">
                  <a:alpha val="62745"/>
                </a:srgbClr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478644" cy="940498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6237495" y="1374373"/>
              <a:ext cx="5625792" cy="13529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8"/>
                </a:lnSpc>
              </a:pP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 pen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tru op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ti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m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z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a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r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ea activ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ități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 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ec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onom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ce ș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 pl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a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n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f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carea d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et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al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at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ă 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a lucrăril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or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6090891" y="0"/>
              <a:ext cx="5919001" cy="857264"/>
              <a:chOff x="0" y="0"/>
              <a:chExt cx="1478644" cy="21415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78644" cy="214154"/>
              </a:xfrm>
              <a:custGeom>
                <a:avLst/>
                <a:gdLst/>
                <a:ahLst/>
                <a:cxnLst/>
                <a:rect r="r" b="b" t="t" l="l"/>
                <a:pathLst>
                  <a:path h="214154" w="1478644">
                    <a:moveTo>
                      <a:pt x="1478644" y="73247"/>
                    </a:moveTo>
                    <a:lnTo>
                      <a:pt x="1478644" y="140907"/>
                    </a:lnTo>
                    <a:cubicBezTo>
                      <a:pt x="1478644" y="160333"/>
                      <a:pt x="1470927" y="178964"/>
                      <a:pt x="1457191" y="192700"/>
                    </a:cubicBezTo>
                    <a:cubicBezTo>
                      <a:pt x="1443454" y="206437"/>
                      <a:pt x="1424824" y="214154"/>
                      <a:pt x="1405397" y="214154"/>
                    </a:cubicBezTo>
                    <a:lnTo>
                      <a:pt x="73247" y="214154"/>
                    </a:lnTo>
                    <a:cubicBezTo>
                      <a:pt x="53820" y="214154"/>
                      <a:pt x="35190" y="206437"/>
                      <a:pt x="21453" y="192700"/>
                    </a:cubicBezTo>
                    <a:cubicBezTo>
                      <a:pt x="7717" y="178964"/>
                      <a:pt x="0" y="160333"/>
                      <a:pt x="0" y="140907"/>
                    </a:cubicBezTo>
                    <a:lnTo>
                      <a:pt x="0" y="73247"/>
                    </a:lnTo>
                    <a:cubicBezTo>
                      <a:pt x="0" y="53820"/>
                      <a:pt x="7717" y="35190"/>
                      <a:pt x="21453" y="21453"/>
                    </a:cubicBezTo>
                    <a:cubicBezTo>
                      <a:pt x="35190" y="7717"/>
                      <a:pt x="53820" y="0"/>
                      <a:pt x="73247" y="0"/>
                    </a:cubicBezTo>
                    <a:lnTo>
                      <a:pt x="1405397" y="0"/>
                    </a:lnTo>
                    <a:cubicBezTo>
                      <a:pt x="1424824" y="0"/>
                      <a:pt x="1443454" y="7717"/>
                      <a:pt x="1457191" y="21453"/>
                    </a:cubicBezTo>
                    <a:cubicBezTo>
                      <a:pt x="1470927" y="35190"/>
                      <a:pt x="1478644" y="53820"/>
                      <a:pt x="1478644" y="73247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478644" cy="252254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365837" y="153304"/>
              <a:ext cx="5369107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b="true" sz="2300">
                  <a:solidFill>
                    <a:srgbClr val="00971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Antreprenorii agricoli</a:t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31710" y="25400"/>
              <a:ext cx="5838127" cy="2265426"/>
              <a:chOff x="0" y="0"/>
              <a:chExt cx="1458441" cy="56592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458441" cy="565928"/>
              </a:xfrm>
              <a:custGeom>
                <a:avLst/>
                <a:gdLst/>
                <a:ahLst/>
                <a:cxnLst/>
                <a:rect r="r" b="b" t="t" l="l"/>
                <a:pathLst>
                  <a:path h="565928" w="1458441">
                    <a:moveTo>
                      <a:pt x="1458441" y="74261"/>
                    </a:moveTo>
                    <a:lnTo>
                      <a:pt x="1458441" y="491667"/>
                    </a:lnTo>
                    <a:cubicBezTo>
                      <a:pt x="1458441" y="532680"/>
                      <a:pt x="1425193" y="565928"/>
                      <a:pt x="1384179" y="565928"/>
                    </a:cubicBezTo>
                    <a:lnTo>
                      <a:pt x="74261" y="565928"/>
                    </a:lnTo>
                    <a:cubicBezTo>
                      <a:pt x="33248" y="565928"/>
                      <a:pt x="0" y="532680"/>
                      <a:pt x="0" y="491667"/>
                    </a:cubicBezTo>
                    <a:lnTo>
                      <a:pt x="0" y="74261"/>
                    </a:lnTo>
                    <a:cubicBezTo>
                      <a:pt x="0" y="33248"/>
                      <a:pt x="33248" y="0"/>
                      <a:pt x="74261" y="0"/>
                    </a:cubicBezTo>
                    <a:lnTo>
                      <a:pt x="1384179" y="0"/>
                    </a:lnTo>
                    <a:cubicBezTo>
                      <a:pt x="1403875" y="0"/>
                      <a:pt x="1422763" y="7824"/>
                      <a:pt x="1436690" y="21751"/>
                    </a:cubicBezTo>
                    <a:cubicBezTo>
                      <a:pt x="1450617" y="35677"/>
                      <a:pt x="1458441" y="54566"/>
                      <a:pt x="1458441" y="74261"/>
                    </a:cubicBezTo>
                    <a:close/>
                  </a:path>
                </a:pathLst>
              </a:custGeom>
              <a:solidFill>
                <a:srgbClr val="FDFDFD">
                  <a:alpha val="62745"/>
                </a:srgbClr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458441" cy="604028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76311" y="1075427"/>
              <a:ext cx="5548925" cy="895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8"/>
                </a:lnSpc>
              </a:pP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pen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tru anal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z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a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 tere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nurilor ș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 determ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in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area not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ei de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 bonita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re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31710" y="0"/>
              <a:ext cx="5838127" cy="857264"/>
              <a:chOff x="0" y="0"/>
              <a:chExt cx="1458441" cy="21415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458441" cy="214154"/>
              </a:xfrm>
              <a:custGeom>
                <a:avLst/>
                <a:gdLst/>
                <a:ahLst/>
                <a:cxnLst/>
                <a:rect r="r" b="b" t="t" l="l"/>
                <a:pathLst>
                  <a:path h="214154" w="1458441">
                    <a:moveTo>
                      <a:pt x="1458441" y="74261"/>
                    </a:moveTo>
                    <a:lnTo>
                      <a:pt x="1458441" y="139893"/>
                    </a:lnTo>
                    <a:cubicBezTo>
                      <a:pt x="1458441" y="180906"/>
                      <a:pt x="1425193" y="214154"/>
                      <a:pt x="1384179" y="214154"/>
                    </a:cubicBezTo>
                    <a:lnTo>
                      <a:pt x="74261" y="214154"/>
                    </a:lnTo>
                    <a:cubicBezTo>
                      <a:pt x="33248" y="214154"/>
                      <a:pt x="0" y="180906"/>
                      <a:pt x="0" y="139893"/>
                    </a:cubicBezTo>
                    <a:lnTo>
                      <a:pt x="0" y="74261"/>
                    </a:lnTo>
                    <a:cubicBezTo>
                      <a:pt x="0" y="33248"/>
                      <a:pt x="33248" y="0"/>
                      <a:pt x="74261" y="0"/>
                    </a:cubicBezTo>
                    <a:lnTo>
                      <a:pt x="1384179" y="0"/>
                    </a:lnTo>
                    <a:cubicBezTo>
                      <a:pt x="1403875" y="0"/>
                      <a:pt x="1422763" y="7824"/>
                      <a:pt x="1436690" y="21751"/>
                    </a:cubicBezTo>
                    <a:cubicBezTo>
                      <a:pt x="1450617" y="35677"/>
                      <a:pt x="1458441" y="54566"/>
                      <a:pt x="1458441" y="74261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458441" cy="252254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02900" y="153304"/>
              <a:ext cx="5295747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b="true" sz="2300">
                  <a:solidFill>
                    <a:srgbClr val="00971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Agențiile de cadastru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5869837" y="3857482"/>
              <a:ext cx="6140054" cy="3146432"/>
              <a:chOff x="0" y="0"/>
              <a:chExt cx="1533866" cy="78601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533866" cy="786013"/>
              </a:xfrm>
              <a:custGeom>
                <a:avLst/>
                <a:gdLst/>
                <a:ahLst/>
                <a:cxnLst/>
                <a:rect r="r" b="b" t="t" l="l"/>
                <a:pathLst>
                  <a:path h="786013" w="1533866">
                    <a:moveTo>
                      <a:pt x="1533866" y="70610"/>
                    </a:moveTo>
                    <a:lnTo>
                      <a:pt x="1533866" y="715403"/>
                    </a:lnTo>
                    <a:cubicBezTo>
                      <a:pt x="1533866" y="754400"/>
                      <a:pt x="1502253" y="786013"/>
                      <a:pt x="1463256" y="786013"/>
                    </a:cubicBezTo>
                    <a:lnTo>
                      <a:pt x="70610" y="786013"/>
                    </a:lnTo>
                    <a:cubicBezTo>
                      <a:pt x="51883" y="786013"/>
                      <a:pt x="33923" y="778574"/>
                      <a:pt x="20681" y="765332"/>
                    </a:cubicBezTo>
                    <a:cubicBezTo>
                      <a:pt x="7439" y="752090"/>
                      <a:pt x="0" y="734130"/>
                      <a:pt x="0" y="715403"/>
                    </a:cubicBezTo>
                    <a:lnTo>
                      <a:pt x="0" y="70610"/>
                    </a:lnTo>
                    <a:cubicBezTo>
                      <a:pt x="0" y="51883"/>
                      <a:pt x="7439" y="33923"/>
                      <a:pt x="20681" y="20681"/>
                    </a:cubicBezTo>
                    <a:cubicBezTo>
                      <a:pt x="33923" y="7439"/>
                      <a:pt x="51883" y="0"/>
                      <a:pt x="70610" y="0"/>
                    </a:cubicBezTo>
                    <a:lnTo>
                      <a:pt x="1463256" y="0"/>
                    </a:lnTo>
                    <a:cubicBezTo>
                      <a:pt x="1481983" y="0"/>
                      <a:pt x="1499943" y="7439"/>
                      <a:pt x="1513185" y="20681"/>
                    </a:cubicBezTo>
                    <a:cubicBezTo>
                      <a:pt x="1526427" y="33923"/>
                      <a:pt x="1533866" y="51883"/>
                      <a:pt x="1533866" y="70610"/>
                    </a:cubicBezTo>
                    <a:close/>
                  </a:path>
                </a:pathLst>
              </a:custGeom>
              <a:solidFill>
                <a:srgbClr val="FDFDFD">
                  <a:alpha val="62745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533866" cy="824113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6088484" y="5363424"/>
              <a:ext cx="5702760" cy="13529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8"/>
                </a:lnSpc>
              </a:pP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en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t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tățile respo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nsabile de colectarea și rec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icl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area ambalaj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el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o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r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5869837" y="3806682"/>
              <a:ext cx="6140054" cy="1403226"/>
              <a:chOff x="0" y="0"/>
              <a:chExt cx="1533866" cy="35054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533866" cy="350541"/>
              </a:xfrm>
              <a:custGeom>
                <a:avLst/>
                <a:gdLst/>
                <a:ahLst/>
                <a:cxnLst/>
                <a:rect r="r" b="b" t="t" l="l"/>
                <a:pathLst>
                  <a:path h="350541" w="1533866">
                    <a:moveTo>
                      <a:pt x="1533866" y="70610"/>
                    </a:moveTo>
                    <a:lnTo>
                      <a:pt x="1533866" y="279931"/>
                    </a:lnTo>
                    <a:cubicBezTo>
                      <a:pt x="1533866" y="298658"/>
                      <a:pt x="1526427" y="316618"/>
                      <a:pt x="1513185" y="329860"/>
                    </a:cubicBezTo>
                    <a:cubicBezTo>
                      <a:pt x="1499943" y="343102"/>
                      <a:pt x="1481983" y="350541"/>
                      <a:pt x="1463256" y="350541"/>
                    </a:cubicBezTo>
                    <a:lnTo>
                      <a:pt x="70610" y="350541"/>
                    </a:lnTo>
                    <a:cubicBezTo>
                      <a:pt x="31613" y="350541"/>
                      <a:pt x="0" y="318928"/>
                      <a:pt x="0" y="279931"/>
                    </a:cubicBezTo>
                    <a:lnTo>
                      <a:pt x="0" y="70610"/>
                    </a:lnTo>
                    <a:cubicBezTo>
                      <a:pt x="0" y="51883"/>
                      <a:pt x="7439" y="33923"/>
                      <a:pt x="20681" y="20681"/>
                    </a:cubicBezTo>
                    <a:cubicBezTo>
                      <a:pt x="33923" y="7439"/>
                      <a:pt x="51883" y="0"/>
                      <a:pt x="70610" y="0"/>
                    </a:cubicBezTo>
                    <a:lnTo>
                      <a:pt x="1463256" y="0"/>
                    </a:lnTo>
                    <a:cubicBezTo>
                      <a:pt x="1481983" y="0"/>
                      <a:pt x="1499943" y="7439"/>
                      <a:pt x="1513185" y="20681"/>
                    </a:cubicBezTo>
                    <a:cubicBezTo>
                      <a:pt x="1526427" y="33923"/>
                      <a:pt x="1533866" y="51883"/>
                      <a:pt x="1533866" y="7061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533866" cy="388641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6155052" y="3959986"/>
              <a:ext cx="5569625" cy="10365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 b="true">
                  <a:solidFill>
                    <a:srgbClr val="00971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Compa</a:t>
              </a:r>
              <a:r>
                <a:rPr lang="en-US" b="true" sz="2300">
                  <a:solidFill>
                    <a:srgbClr val="00971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niile de vânzare a produselor de uz fitosanitar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0" y="2596454"/>
              <a:ext cx="5622465" cy="4343961"/>
              <a:chOff x="0" y="0"/>
              <a:chExt cx="1404565" cy="1085168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404566" cy="1085168"/>
              </a:xfrm>
              <a:custGeom>
                <a:avLst/>
                <a:gdLst/>
                <a:ahLst/>
                <a:cxnLst/>
                <a:rect r="r" b="b" t="t" l="l"/>
                <a:pathLst>
                  <a:path h="1085168" w="1404566">
                    <a:moveTo>
                      <a:pt x="1404566" y="77110"/>
                    </a:moveTo>
                    <a:lnTo>
                      <a:pt x="1404566" y="1008059"/>
                    </a:lnTo>
                    <a:cubicBezTo>
                      <a:pt x="1404566" y="1028509"/>
                      <a:pt x="1396442" y="1048122"/>
                      <a:pt x="1381981" y="1062583"/>
                    </a:cubicBezTo>
                    <a:cubicBezTo>
                      <a:pt x="1367520" y="1077044"/>
                      <a:pt x="1347906" y="1085168"/>
                      <a:pt x="1327456" y="1085168"/>
                    </a:cubicBezTo>
                    <a:lnTo>
                      <a:pt x="77110" y="1085168"/>
                    </a:lnTo>
                    <a:cubicBezTo>
                      <a:pt x="56659" y="1085168"/>
                      <a:pt x="37046" y="1077044"/>
                      <a:pt x="22585" y="1062583"/>
                    </a:cubicBezTo>
                    <a:cubicBezTo>
                      <a:pt x="8124" y="1048122"/>
                      <a:pt x="0" y="1028509"/>
                      <a:pt x="0" y="1008059"/>
                    </a:cubicBezTo>
                    <a:lnTo>
                      <a:pt x="0" y="77110"/>
                    </a:lnTo>
                    <a:cubicBezTo>
                      <a:pt x="0" y="56659"/>
                      <a:pt x="8124" y="37046"/>
                      <a:pt x="22585" y="22585"/>
                    </a:cubicBezTo>
                    <a:cubicBezTo>
                      <a:pt x="37046" y="8124"/>
                      <a:pt x="56659" y="0"/>
                      <a:pt x="77110" y="0"/>
                    </a:cubicBezTo>
                    <a:lnTo>
                      <a:pt x="1327456" y="0"/>
                    </a:lnTo>
                    <a:cubicBezTo>
                      <a:pt x="1370042" y="0"/>
                      <a:pt x="1404566" y="34523"/>
                      <a:pt x="1404566" y="77110"/>
                    </a:cubicBezTo>
                    <a:close/>
                  </a:path>
                </a:pathLst>
              </a:custGeom>
              <a:solidFill>
                <a:srgbClr val="FDFDFD">
                  <a:alpha val="62745"/>
                </a:srgbClr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1404565" cy="1123268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139260" y="3475210"/>
              <a:ext cx="5343946" cy="895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8"/>
                </a:lnSpc>
              </a:pP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pen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tru raport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are,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 evide</a:t>
              </a:r>
              <a:r>
                <a:rPr lang="en-US" sz="1956">
                  <a:solidFill>
                    <a:srgbClr val="0E5434"/>
                  </a:solidFill>
                  <a:latin typeface="Gotham"/>
                  <a:ea typeface="Gotham"/>
                  <a:cs typeface="Gotham"/>
                  <a:sym typeface="Gotham"/>
                </a:rPr>
                <a:t>nță și subvenționare: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0" y="2545654"/>
              <a:ext cx="5622465" cy="857264"/>
              <a:chOff x="0" y="0"/>
              <a:chExt cx="1404565" cy="21415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404566" cy="214154"/>
              </a:xfrm>
              <a:custGeom>
                <a:avLst/>
                <a:gdLst/>
                <a:ahLst/>
                <a:cxnLst/>
                <a:rect r="r" b="b" t="t" l="l"/>
                <a:pathLst>
                  <a:path h="214154" w="1404566">
                    <a:moveTo>
                      <a:pt x="1404566" y="77110"/>
                    </a:moveTo>
                    <a:lnTo>
                      <a:pt x="1404566" y="137044"/>
                    </a:lnTo>
                    <a:cubicBezTo>
                      <a:pt x="1404566" y="157495"/>
                      <a:pt x="1396442" y="177108"/>
                      <a:pt x="1381981" y="191569"/>
                    </a:cubicBezTo>
                    <a:cubicBezTo>
                      <a:pt x="1367520" y="206030"/>
                      <a:pt x="1347906" y="214154"/>
                      <a:pt x="1327456" y="214154"/>
                    </a:cubicBezTo>
                    <a:lnTo>
                      <a:pt x="77110" y="214154"/>
                    </a:lnTo>
                    <a:cubicBezTo>
                      <a:pt x="56659" y="214154"/>
                      <a:pt x="37046" y="206030"/>
                      <a:pt x="22585" y="191569"/>
                    </a:cubicBezTo>
                    <a:cubicBezTo>
                      <a:pt x="8124" y="177108"/>
                      <a:pt x="0" y="157495"/>
                      <a:pt x="0" y="137044"/>
                    </a:cubicBezTo>
                    <a:lnTo>
                      <a:pt x="0" y="77110"/>
                    </a:lnTo>
                    <a:cubicBezTo>
                      <a:pt x="0" y="56659"/>
                      <a:pt x="8124" y="37046"/>
                      <a:pt x="22585" y="22585"/>
                    </a:cubicBezTo>
                    <a:cubicBezTo>
                      <a:pt x="37046" y="8124"/>
                      <a:pt x="56659" y="0"/>
                      <a:pt x="77110" y="0"/>
                    </a:cubicBezTo>
                    <a:lnTo>
                      <a:pt x="1327456" y="0"/>
                    </a:lnTo>
                    <a:cubicBezTo>
                      <a:pt x="1370042" y="0"/>
                      <a:pt x="1404566" y="34523"/>
                      <a:pt x="1404566" y="7711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1404565" cy="252254"/>
              </a:xfrm>
              <a:prstGeom prst="rect">
                <a:avLst/>
              </a:prstGeom>
            </p:spPr>
            <p:txBody>
              <a:bodyPr anchor="ctr" rtlCol="false" tIns="45952" lIns="45952" bIns="45952" rIns="45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261172" y="2698957"/>
              <a:ext cx="5100121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 b="true">
                  <a:solidFill>
                    <a:srgbClr val="00971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I</a:t>
              </a:r>
              <a:r>
                <a:rPr lang="en-US" b="true" sz="2300">
                  <a:solidFill>
                    <a:srgbClr val="009719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nstituțiile statului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261172" y="4586888"/>
              <a:ext cx="5100121" cy="2417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79144" indent="-189572" lvl="1">
                <a:lnSpc>
                  <a:spcPts val="2458"/>
                </a:lnSpc>
                <a:buFont typeface="Arial"/>
                <a:buChar char="•"/>
              </a:pPr>
              <a:r>
                <a:rPr lang="en-US" b="true" sz="1756" i="true">
                  <a:solidFill>
                    <a:srgbClr val="0E5434"/>
                  </a:solidFill>
                  <a:latin typeface="Gotham Bold Italics"/>
                  <a:ea typeface="Gotham Bold Italics"/>
                  <a:cs typeface="Gotham Bold Italics"/>
                  <a:sym typeface="Gotham Bold Italics"/>
                </a:rPr>
                <a:t>AIPA</a:t>
              </a:r>
              <a:r>
                <a:rPr lang="en-US" sz="1756" i="true">
                  <a:solidFill>
                    <a:srgbClr val="0E5434"/>
                  </a:solidFill>
                  <a:latin typeface="Gotham Italics"/>
                  <a:ea typeface="Gotham Italics"/>
                  <a:cs typeface="Gotham Italics"/>
                  <a:sym typeface="Gotham Italics"/>
                </a:rPr>
                <a:t> – subvenționa</a:t>
              </a:r>
              <a:r>
                <a:rPr lang="en-US" sz="1756" i="true">
                  <a:solidFill>
                    <a:srgbClr val="0E5434"/>
                  </a:solidFill>
                  <a:latin typeface="Gotham Italics"/>
                  <a:ea typeface="Gotham Italics"/>
                  <a:cs typeface="Gotham Italics"/>
                  <a:sym typeface="Gotham Italics"/>
                </a:rPr>
                <a:t>re și programe de sprijin.</a:t>
              </a:r>
            </a:p>
            <a:p>
              <a:pPr algn="l" marL="379144" indent="-189572" lvl="1">
                <a:lnSpc>
                  <a:spcPts val="2458"/>
                </a:lnSpc>
                <a:buFont typeface="Arial"/>
                <a:buChar char="•"/>
              </a:pPr>
              <a:r>
                <a:rPr lang="en-US" b="true" sz="1756" i="true">
                  <a:solidFill>
                    <a:srgbClr val="0E5434"/>
                  </a:solidFill>
                  <a:latin typeface="Gotham Bold Italics"/>
                  <a:ea typeface="Gotham Bold Italics"/>
                  <a:cs typeface="Gotham Bold Italics"/>
                  <a:sym typeface="Gotham Bold Italics"/>
                </a:rPr>
                <a:t>Agenția de Mediu </a:t>
              </a:r>
              <a:r>
                <a:rPr lang="en-US" sz="1756" i="true">
                  <a:solidFill>
                    <a:srgbClr val="0E5434"/>
                  </a:solidFill>
                  <a:latin typeface="Gotham Italics"/>
                  <a:ea typeface="Gotham Italics"/>
                  <a:cs typeface="Gotham Italics"/>
                  <a:sym typeface="Gotham Italics"/>
                </a:rPr>
                <a:t>– raportare</a:t>
              </a:r>
              <a:r>
                <a:rPr lang="en-US" sz="1756" i="true">
                  <a:solidFill>
                    <a:srgbClr val="0E5434"/>
                  </a:solidFill>
                  <a:latin typeface="Gotham Italics"/>
                  <a:ea typeface="Gotham Italics"/>
                  <a:cs typeface="Gotham Italics"/>
                  <a:sym typeface="Gotham Italics"/>
                </a:rPr>
                <a:t> aseme</a:t>
              </a:r>
              <a:r>
                <a:rPr lang="en-US" sz="1756" i="true">
                  <a:solidFill>
                    <a:srgbClr val="0E5434"/>
                  </a:solidFill>
                  <a:latin typeface="Gotham Italics"/>
                  <a:ea typeface="Gotham Italics"/>
                  <a:cs typeface="Gotham Italics"/>
                  <a:sym typeface="Gotham Italics"/>
                </a:rPr>
                <a:t>nea Formularului </a:t>
              </a:r>
              <a:r>
                <a:rPr lang="en-US" sz="1756" i="true" u="sng">
                  <a:solidFill>
                    <a:srgbClr val="0E5434"/>
                  </a:solidFill>
                  <a:latin typeface="Gotham Italics"/>
                  <a:ea typeface="Gotham Italics"/>
                  <a:cs typeface="Gotham Italics"/>
                  <a:sym typeface="Gotham Italics"/>
                </a:rPr>
                <a:t>Nr. 29-AGR „Producția vegetală”</a:t>
              </a:r>
            </a:p>
            <a:p>
              <a:pPr algn="l">
                <a:lnSpc>
                  <a:spcPts val="2458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9037163" y="3122105"/>
            <a:ext cx="785867" cy="434376"/>
          </a:xfrm>
          <a:custGeom>
            <a:avLst/>
            <a:gdLst/>
            <a:ahLst/>
            <a:cxnLst/>
            <a:rect r="r" b="b" t="t" l="l"/>
            <a:pathLst>
              <a:path h="434376" w="785867">
                <a:moveTo>
                  <a:pt x="0" y="0"/>
                </a:moveTo>
                <a:lnTo>
                  <a:pt x="785868" y="0"/>
                </a:lnTo>
                <a:lnTo>
                  <a:pt x="785868" y="434376"/>
                </a:lnTo>
                <a:lnTo>
                  <a:pt x="0" y="4343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5506523" y="5691772"/>
            <a:ext cx="1162979" cy="557852"/>
          </a:xfrm>
          <a:custGeom>
            <a:avLst/>
            <a:gdLst/>
            <a:ahLst/>
            <a:cxnLst/>
            <a:rect r="r" b="b" t="t" l="l"/>
            <a:pathLst>
              <a:path h="557852" w="1162979">
                <a:moveTo>
                  <a:pt x="0" y="0"/>
                </a:moveTo>
                <a:lnTo>
                  <a:pt x="1162979" y="0"/>
                </a:lnTo>
                <a:lnTo>
                  <a:pt x="1162979" y="557852"/>
                </a:lnTo>
                <a:lnTo>
                  <a:pt x="0" y="5578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2945834" y="8097474"/>
            <a:ext cx="400020" cy="683368"/>
          </a:xfrm>
          <a:custGeom>
            <a:avLst/>
            <a:gdLst/>
            <a:ahLst/>
            <a:cxnLst/>
            <a:rect r="r" b="b" t="t" l="l"/>
            <a:pathLst>
              <a:path h="683368" w="400020">
                <a:moveTo>
                  <a:pt x="0" y="0"/>
                </a:moveTo>
                <a:lnTo>
                  <a:pt x="400020" y="0"/>
                </a:lnTo>
                <a:lnTo>
                  <a:pt x="400020" y="683368"/>
                </a:lnTo>
                <a:lnTo>
                  <a:pt x="0" y="6833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3412923" y="8320947"/>
            <a:ext cx="240434" cy="469420"/>
          </a:xfrm>
          <a:custGeom>
            <a:avLst/>
            <a:gdLst/>
            <a:ahLst/>
            <a:cxnLst/>
            <a:rect r="r" b="b" t="t" l="l"/>
            <a:pathLst>
              <a:path h="469420" w="240434">
                <a:moveTo>
                  <a:pt x="0" y="0"/>
                </a:moveTo>
                <a:lnTo>
                  <a:pt x="240434" y="0"/>
                </a:lnTo>
                <a:lnTo>
                  <a:pt x="240434" y="469420"/>
                </a:lnTo>
                <a:lnTo>
                  <a:pt x="0" y="4694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3481135" y="3229634"/>
            <a:ext cx="344445" cy="336372"/>
          </a:xfrm>
          <a:custGeom>
            <a:avLst/>
            <a:gdLst/>
            <a:ahLst/>
            <a:cxnLst/>
            <a:rect r="r" b="b" t="t" l="l"/>
            <a:pathLst>
              <a:path h="336372" w="344445">
                <a:moveTo>
                  <a:pt x="0" y="0"/>
                </a:moveTo>
                <a:lnTo>
                  <a:pt x="344444" y="0"/>
                </a:lnTo>
                <a:lnTo>
                  <a:pt x="344444" y="336372"/>
                </a:lnTo>
                <a:lnTo>
                  <a:pt x="0" y="3363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1615495" y="6808424"/>
            <a:ext cx="646008" cy="748317"/>
          </a:xfrm>
          <a:custGeom>
            <a:avLst/>
            <a:gdLst/>
            <a:ahLst/>
            <a:cxnLst/>
            <a:rect r="r" b="b" t="t" l="l"/>
            <a:pathLst>
              <a:path h="748317" w="646008">
                <a:moveTo>
                  <a:pt x="0" y="0"/>
                </a:moveTo>
                <a:lnTo>
                  <a:pt x="646008" y="0"/>
                </a:lnTo>
                <a:lnTo>
                  <a:pt x="646008" y="748316"/>
                </a:lnTo>
                <a:lnTo>
                  <a:pt x="0" y="74831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028700" y="2510717"/>
            <a:ext cx="9007418" cy="688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7"/>
              </a:lnSpc>
            </a:pPr>
            <a:r>
              <a:rPr lang="en-US" sz="605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Impactul ecologic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536152" y="1068233"/>
            <a:ext cx="4492906" cy="50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3"/>
              </a:lnSpc>
              <a:spcBef>
                <a:spcPct val="0"/>
              </a:spcBef>
            </a:pPr>
            <a:r>
              <a:rPr lang="en-US" b="true" sz="296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ARéc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251882" y="2510717"/>
            <a:ext cx="9007418" cy="688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47"/>
              </a:lnSpc>
            </a:pPr>
            <a:r>
              <a:rPr lang="en-US" sz="605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Public-țintă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28700" y="3729211"/>
            <a:ext cx="6829253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Reducerea amprentei de carbon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prin implementarea tehnologiilor agricole ecolog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ice.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8700" y="5255849"/>
            <a:ext cx="6829253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Creșterea sechestrării carbonului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prin practici agricole durabile.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28700" y="6344874"/>
            <a:ext cx="6829253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Gestionarea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corespunzătoare a </a:t>
            </a:r>
            <a:r>
              <a:rPr lang="en-US" b="true" sz="24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ambalajelor 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de produse </a:t>
            </a:r>
            <a:r>
              <a:rPr lang="en-US" b="true" sz="24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fitosanitare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28700" y="7433899"/>
            <a:ext cx="6829253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Optimizarea utilizării resurselor</a:t>
            </a:r>
            <a:r>
              <a:rPr lang="en-US" sz="24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(apă, fertilizanți, pesticide) pe baza datelor în timp real și a hărților tehnologice.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2582" y="2701332"/>
            <a:ext cx="15562835" cy="4884336"/>
          </a:xfrm>
          <a:custGeom>
            <a:avLst/>
            <a:gdLst/>
            <a:ahLst/>
            <a:cxnLst/>
            <a:rect r="r" b="b" t="t" l="l"/>
            <a:pathLst>
              <a:path h="4884336" w="15562835">
                <a:moveTo>
                  <a:pt x="0" y="0"/>
                </a:moveTo>
                <a:lnTo>
                  <a:pt x="15562836" y="0"/>
                </a:lnTo>
                <a:lnTo>
                  <a:pt x="15562836" y="4884336"/>
                </a:lnTo>
                <a:lnTo>
                  <a:pt x="0" y="4884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DAG4_aYZSvA</dc:identifier>
  <dcterms:modified xsi:type="dcterms:W3CDTF">2011-08-01T06:04:30Z</dcterms:modified>
  <cp:revision>1</cp:revision>
  <dc:title>Green and White Minimal Sustainable Living Presentation</dc:title>
</cp:coreProperties>
</file>